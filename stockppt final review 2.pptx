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79" r:id="rId2"/>
    <p:sldId id="258" r:id="rId3"/>
    <p:sldId id="260" r:id="rId4"/>
    <p:sldId id="261" r:id="rId5"/>
    <p:sldId id="277" r:id="rId6"/>
    <p:sldId id="278" r:id="rId7"/>
    <p:sldId id="285" r:id="rId8"/>
    <p:sldId id="286" r:id="rId9"/>
    <p:sldId id="287" r:id="rId10"/>
    <p:sldId id="306" r:id="rId11"/>
    <p:sldId id="263" r:id="rId12"/>
    <p:sldId id="265" r:id="rId13"/>
    <p:sldId id="267"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7" r:id="rId30"/>
    <p:sldId id="304" r:id="rId31"/>
    <p:sldId id="305" r:id="rId32"/>
    <p:sldId id="273" r:id="rId33"/>
    <p:sldId id="27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varScale="1">
        <p:scale>
          <a:sx n="88" d="100"/>
          <a:sy n="88" d="100"/>
        </p:scale>
        <p:origin x="50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76ACC-5C3F-4519-BE78-4A1A39A90ABE}"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83F3F212-BDA2-4819-9D96-087AA77075E5}">
      <dgm:prSet phldrT="[Text]"/>
      <dgm:spPr>
        <a:solidFill>
          <a:schemeClr val="bg1"/>
        </a:solidFill>
        <a:ln>
          <a:solidFill>
            <a:srgbClr val="0070C0"/>
          </a:solidFill>
        </a:ln>
      </dgm:spPr>
      <dgm:t>
        <a:bodyPr/>
        <a:lstStyle/>
        <a:p>
          <a:r>
            <a:rPr lang="en-US" dirty="0" smtClean="0">
              <a:solidFill>
                <a:schemeClr val="tx1"/>
              </a:solidFill>
            </a:rPr>
            <a:t>EDA and Data Visualization</a:t>
          </a:r>
          <a:endParaRPr lang="en-US" dirty="0">
            <a:solidFill>
              <a:schemeClr val="tx1"/>
            </a:solidFill>
          </a:endParaRPr>
        </a:p>
      </dgm:t>
    </dgm:pt>
    <dgm:pt modelId="{8DEAFCCF-D1A4-4A1F-B7D4-171BC81FD2EF}" type="parTrans" cxnId="{E65DB4FE-11B4-46ED-8075-7E34B4F129EF}">
      <dgm:prSet/>
      <dgm:spPr/>
      <dgm:t>
        <a:bodyPr/>
        <a:lstStyle/>
        <a:p>
          <a:endParaRPr lang="en-US"/>
        </a:p>
      </dgm:t>
    </dgm:pt>
    <dgm:pt modelId="{450313F2-7063-49DA-B242-BDCAC6115459}" type="sibTrans" cxnId="{E65DB4FE-11B4-46ED-8075-7E34B4F129EF}">
      <dgm:prSet/>
      <dgm:spPr>
        <a:solidFill>
          <a:schemeClr val="bg1"/>
        </a:solidFill>
        <a:ln>
          <a:solidFill>
            <a:srgbClr val="0070C0"/>
          </a:solidFill>
        </a:ln>
      </dgm:spPr>
      <dgm:t>
        <a:bodyPr/>
        <a:lstStyle/>
        <a:p>
          <a:endParaRPr lang="en-US"/>
        </a:p>
      </dgm:t>
    </dgm:pt>
    <dgm:pt modelId="{874D8D2A-4D01-4B76-A787-FC80C3C571D7}">
      <dgm:prSet phldrT="[Text]"/>
      <dgm:spPr>
        <a:solidFill>
          <a:schemeClr val="bg1"/>
        </a:solidFill>
        <a:ln>
          <a:solidFill>
            <a:srgbClr val="0070C0"/>
          </a:solidFill>
        </a:ln>
      </dgm:spPr>
      <dgm:t>
        <a:bodyPr/>
        <a:lstStyle/>
        <a:p>
          <a:r>
            <a:rPr lang="en-US" dirty="0" smtClean="0">
              <a:solidFill>
                <a:schemeClr val="tx1"/>
              </a:solidFill>
            </a:rPr>
            <a:t>Total Data points</a:t>
          </a:r>
          <a:endParaRPr lang="en-US" dirty="0">
            <a:solidFill>
              <a:schemeClr val="tx1"/>
            </a:solidFill>
          </a:endParaRPr>
        </a:p>
      </dgm:t>
    </dgm:pt>
    <dgm:pt modelId="{3609F66D-0101-4F69-AE66-33146EA648F5}" type="parTrans" cxnId="{0BEE5EA0-92AF-4679-8707-1BB28EF54EDB}">
      <dgm:prSet/>
      <dgm:spPr/>
      <dgm:t>
        <a:bodyPr/>
        <a:lstStyle/>
        <a:p>
          <a:endParaRPr lang="en-US"/>
        </a:p>
      </dgm:t>
    </dgm:pt>
    <dgm:pt modelId="{BABC220A-DC41-4E8C-BADB-D913A1F2C527}" type="sibTrans" cxnId="{0BEE5EA0-92AF-4679-8707-1BB28EF54EDB}">
      <dgm:prSet/>
      <dgm:spPr/>
      <dgm:t>
        <a:bodyPr/>
        <a:lstStyle/>
        <a:p>
          <a:endParaRPr lang="en-US"/>
        </a:p>
      </dgm:t>
    </dgm:pt>
    <dgm:pt modelId="{029D49B4-C40F-456D-A86C-C82740F2F592}">
      <dgm:prSet phldrT="[Text]"/>
      <dgm:spPr>
        <a:solidFill>
          <a:schemeClr val="bg1"/>
        </a:solidFill>
        <a:ln>
          <a:solidFill>
            <a:srgbClr val="0070C0"/>
          </a:solidFill>
        </a:ln>
      </dgm:spPr>
      <dgm:t>
        <a:bodyPr/>
        <a:lstStyle/>
        <a:p>
          <a:r>
            <a:rPr lang="en-US" dirty="0" smtClean="0">
              <a:solidFill>
                <a:schemeClr val="tx1"/>
              </a:solidFill>
            </a:rPr>
            <a:t>Negative/Positive Sentiments</a:t>
          </a:r>
          <a:endParaRPr lang="en-US" dirty="0">
            <a:solidFill>
              <a:schemeClr val="tx1"/>
            </a:solidFill>
          </a:endParaRPr>
        </a:p>
      </dgm:t>
    </dgm:pt>
    <dgm:pt modelId="{17B709D8-635A-4FBB-B8AA-86972209EED7}" type="parTrans" cxnId="{C23B9AB8-E6C2-4C53-9337-411F56B5E0E5}">
      <dgm:prSet/>
      <dgm:spPr/>
      <dgm:t>
        <a:bodyPr/>
        <a:lstStyle/>
        <a:p>
          <a:endParaRPr lang="en-US"/>
        </a:p>
      </dgm:t>
    </dgm:pt>
    <dgm:pt modelId="{02B641A4-7607-43A5-A6A4-5A5FD6DC155B}" type="sibTrans" cxnId="{C23B9AB8-E6C2-4C53-9337-411F56B5E0E5}">
      <dgm:prSet/>
      <dgm:spPr/>
      <dgm:t>
        <a:bodyPr/>
        <a:lstStyle/>
        <a:p>
          <a:endParaRPr lang="en-US"/>
        </a:p>
      </dgm:t>
    </dgm:pt>
    <dgm:pt modelId="{85DCF67E-2AF2-4075-8EC2-31BF6E6854B3}">
      <dgm:prSet phldrT="[Text]"/>
      <dgm:spPr>
        <a:solidFill>
          <a:schemeClr val="bg1"/>
        </a:solidFill>
        <a:ln>
          <a:solidFill>
            <a:srgbClr val="0070C0"/>
          </a:solidFill>
        </a:ln>
      </dgm:spPr>
      <dgm:t>
        <a:bodyPr/>
        <a:lstStyle/>
        <a:p>
          <a:r>
            <a:rPr lang="en-US" dirty="0" smtClean="0">
              <a:solidFill>
                <a:schemeClr val="tx1"/>
              </a:solidFill>
            </a:rPr>
            <a:t>Data Preprocessing</a:t>
          </a:r>
          <a:endParaRPr lang="en-US" dirty="0">
            <a:solidFill>
              <a:schemeClr val="tx1"/>
            </a:solidFill>
          </a:endParaRPr>
        </a:p>
      </dgm:t>
    </dgm:pt>
    <dgm:pt modelId="{8ADA7C70-908F-43D3-8A0F-2D774B9A9C5E}" type="parTrans" cxnId="{BD9307CA-8310-4D9A-8DB6-178BFBCFE924}">
      <dgm:prSet/>
      <dgm:spPr/>
      <dgm:t>
        <a:bodyPr/>
        <a:lstStyle/>
        <a:p>
          <a:endParaRPr lang="en-US"/>
        </a:p>
      </dgm:t>
    </dgm:pt>
    <dgm:pt modelId="{DD5E177B-0480-4BAC-AA5F-5A5B807878E9}" type="sibTrans" cxnId="{BD9307CA-8310-4D9A-8DB6-178BFBCFE924}">
      <dgm:prSet/>
      <dgm:spPr>
        <a:solidFill>
          <a:schemeClr val="bg1"/>
        </a:solidFill>
        <a:ln>
          <a:solidFill>
            <a:srgbClr val="0070C0"/>
          </a:solidFill>
        </a:ln>
      </dgm:spPr>
      <dgm:t>
        <a:bodyPr/>
        <a:lstStyle/>
        <a:p>
          <a:endParaRPr lang="en-US"/>
        </a:p>
      </dgm:t>
    </dgm:pt>
    <dgm:pt modelId="{8D4469DD-F860-43BF-A05E-2C6B72905102}">
      <dgm:prSet phldrT="[Text]"/>
      <dgm:spPr>
        <a:solidFill>
          <a:schemeClr val="bg1"/>
        </a:solidFill>
        <a:ln>
          <a:solidFill>
            <a:srgbClr val="0070C0"/>
          </a:solidFill>
        </a:ln>
      </dgm:spPr>
      <dgm:t>
        <a:bodyPr/>
        <a:lstStyle/>
        <a:p>
          <a:r>
            <a:rPr lang="en-US" dirty="0" smtClean="0">
              <a:solidFill>
                <a:schemeClr val="tx1"/>
              </a:solidFill>
            </a:rPr>
            <a:t>Removing Punctuations</a:t>
          </a:r>
          <a:endParaRPr lang="en-US" dirty="0">
            <a:solidFill>
              <a:schemeClr val="tx1"/>
            </a:solidFill>
          </a:endParaRPr>
        </a:p>
      </dgm:t>
    </dgm:pt>
    <dgm:pt modelId="{E6277B22-42AD-41ED-825A-FEE60F16A051}" type="parTrans" cxnId="{478843CD-2C1A-4015-A899-D777DC14A0D6}">
      <dgm:prSet/>
      <dgm:spPr/>
      <dgm:t>
        <a:bodyPr/>
        <a:lstStyle/>
        <a:p>
          <a:endParaRPr lang="en-US"/>
        </a:p>
      </dgm:t>
    </dgm:pt>
    <dgm:pt modelId="{65578B12-4C56-49DB-AAB9-9783702BADA7}" type="sibTrans" cxnId="{478843CD-2C1A-4015-A899-D777DC14A0D6}">
      <dgm:prSet/>
      <dgm:spPr/>
      <dgm:t>
        <a:bodyPr/>
        <a:lstStyle/>
        <a:p>
          <a:endParaRPr lang="en-US"/>
        </a:p>
      </dgm:t>
    </dgm:pt>
    <dgm:pt modelId="{B3A907F9-58E5-4CBC-967C-B455E4BFF76B}">
      <dgm:prSet phldrT="[Text]"/>
      <dgm:spPr>
        <a:solidFill>
          <a:schemeClr val="bg1"/>
        </a:solidFill>
        <a:ln>
          <a:solidFill>
            <a:srgbClr val="0070C0"/>
          </a:solidFill>
        </a:ln>
      </dgm:spPr>
      <dgm:t>
        <a:bodyPr/>
        <a:lstStyle/>
        <a:p>
          <a:r>
            <a:rPr lang="en-US" dirty="0" smtClean="0">
              <a:solidFill>
                <a:schemeClr val="tx1"/>
              </a:solidFill>
            </a:rPr>
            <a:t>Converting to Lower Case</a:t>
          </a:r>
          <a:endParaRPr lang="en-US" dirty="0">
            <a:solidFill>
              <a:schemeClr val="tx1"/>
            </a:solidFill>
          </a:endParaRPr>
        </a:p>
      </dgm:t>
    </dgm:pt>
    <dgm:pt modelId="{F3136013-6A95-416A-8338-F631F8993940}" type="parTrans" cxnId="{8872DD35-A3B6-41BE-8236-692FF1AFCE6F}">
      <dgm:prSet/>
      <dgm:spPr/>
      <dgm:t>
        <a:bodyPr/>
        <a:lstStyle/>
        <a:p>
          <a:endParaRPr lang="en-US"/>
        </a:p>
      </dgm:t>
    </dgm:pt>
    <dgm:pt modelId="{F49E699A-433D-499C-B1A8-CD95C61CF15D}" type="sibTrans" cxnId="{8872DD35-A3B6-41BE-8236-692FF1AFCE6F}">
      <dgm:prSet/>
      <dgm:spPr/>
      <dgm:t>
        <a:bodyPr/>
        <a:lstStyle/>
        <a:p>
          <a:endParaRPr lang="en-US"/>
        </a:p>
      </dgm:t>
    </dgm:pt>
    <dgm:pt modelId="{07E94DD1-C81E-4522-9237-F7BB96422CF5}">
      <dgm:prSet phldrT="[Text]"/>
      <dgm:spPr>
        <a:solidFill>
          <a:schemeClr val="bg1"/>
        </a:solidFill>
        <a:ln>
          <a:solidFill>
            <a:srgbClr val="0070C0"/>
          </a:solidFill>
        </a:ln>
      </dgm:spPr>
      <dgm:t>
        <a:bodyPr/>
        <a:lstStyle/>
        <a:p>
          <a:r>
            <a:rPr lang="en-US" dirty="0" smtClean="0">
              <a:solidFill>
                <a:schemeClr val="tx1"/>
              </a:solidFill>
            </a:rPr>
            <a:t>Construction of Bag of Words</a:t>
          </a:r>
          <a:endParaRPr lang="en-US" dirty="0">
            <a:solidFill>
              <a:schemeClr val="tx1"/>
            </a:solidFill>
          </a:endParaRPr>
        </a:p>
      </dgm:t>
    </dgm:pt>
    <dgm:pt modelId="{732C317A-CDD6-4A2F-8D31-C18E8016A36B}" type="parTrans" cxnId="{CE955E86-1863-4239-AE13-3E034291D12A}">
      <dgm:prSet/>
      <dgm:spPr/>
      <dgm:t>
        <a:bodyPr/>
        <a:lstStyle/>
        <a:p>
          <a:endParaRPr lang="en-US"/>
        </a:p>
      </dgm:t>
    </dgm:pt>
    <dgm:pt modelId="{E9B369D3-0EC1-41C4-9EB6-68F138835DAB}" type="sibTrans" cxnId="{CE955E86-1863-4239-AE13-3E034291D12A}">
      <dgm:prSet/>
      <dgm:spPr>
        <a:solidFill>
          <a:schemeClr val="bg1"/>
        </a:solidFill>
        <a:ln>
          <a:solidFill>
            <a:srgbClr val="0070C0"/>
          </a:solidFill>
        </a:ln>
      </dgm:spPr>
      <dgm:t>
        <a:bodyPr/>
        <a:lstStyle/>
        <a:p>
          <a:endParaRPr lang="en-US"/>
        </a:p>
      </dgm:t>
    </dgm:pt>
    <dgm:pt modelId="{AF52863C-0603-4599-962F-3C21968F743C}">
      <dgm:prSet phldrT="[Text]"/>
      <dgm:spPr>
        <a:solidFill>
          <a:schemeClr val="bg1"/>
        </a:solidFill>
        <a:ln>
          <a:solidFill>
            <a:srgbClr val="0070C0"/>
          </a:solidFill>
        </a:ln>
      </dgm:spPr>
      <dgm:t>
        <a:bodyPr/>
        <a:lstStyle/>
        <a:p>
          <a:r>
            <a:rPr lang="en-US" dirty="0" smtClean="0">
              <a:solidFill>
                <a:schemeClr val="tx1"/>
              </a:solidFill>
            </a:rPr>
            <a:t>Sentence to Vector</a:t>
          </a:r>
          <a:endParaRPr lang="en-US" dirty="0">
            <a:solidFill>
              <a:schemeClr val="tx1"/>
            </a:solidFill>
          </a:endParaRPr>
        </a:p>
      </dgm:t>
    </dgm:pt>
    <dgm:pt modelId="{C4192F6C-88F4-41E7-B391-C62C85995748}" type="parTrans" cxnId="{846FE5D5-25F1-45D8-9BC9-E5EBF91CCD90}">
      <dgm:prSet/>
      <dgm:spPr/>
      <dgm:t>
        <a:bodyPr/>
        <a:lstStyle/>
        <a:p>
          <a:endParaRPr lang="en-US"/>
        </a:p>
      </dgm:t>
    </dgm:pt>
    <dgm:pt modelId="{9AE841EA-E133-4688-85CE-7C2B4DAA5B93}" type="sibTrans" cxnId="{846FE5D5-25F1-45D8-9BC9-E5EBF91CCD90}">
      <dgm:prSet/>
      <dgm:spPr/>
      <dgm:t>
        <a:bodyPr/>
        <a:lstStyle/>
        <a:p>
          <a:endParaRPr lang="en-US"/>
        </a:p>
      </dgm:t>
    </dgm:pt>
    <dgm:pt modelId="{71D69675-7539-43AD-BAC9-79E19BDB8638}">
      <dgm:prSet phldrT="[Text]"/>
      <dgm:spPr>
        <a:solidFill>
          <a:schemeClr val="bg1"/>
        </a:solidFill>
        <a:ln>
          <a:solidFill>
            <a:srgbClr val="0070C0"/>
          </a:solidFill>
        </a:ln>
      </dgm:spPr>
      <dgm:t>
        <a:bodyPr/>
        <a:lstStyle/>
        <a:p>
          <a:r>
            <a:rPr lang="en-US" dirty="0" smtClean="0">
              <a:solidFill>
                <a:schemeClr val="tx1"/>
              </a:solidFill>
            </a:rPr>
            <a:t>Modified Multinomial Naïve Bayes</a:t>
          </a:r>
          <a:endParaRPr lang="en-US" dirty="0">
            <a:solidFill>
              <a:schemeClr val="tx1"/>
            </a:solidFill>
          </a:endParaRPr>
        </a:p>
      </dgm:t>
    </dgm:pt>
    <dgm:pt modelId="{B4F9E4AE-6593-4DC3-905C-49FAF8A22E41}" type="parTrans" cxnId="{27881342-E001-4888-AC5D-025A6CD389D8}">
      <dgm:prSet/>
      <dgm:spPr/>
      <dgm:t>
        <a:bodyPr/>
        <a:lstStyle/>
        <a:p>
          <a:endParaRPr lang="en-US"/>
        </a:p>
      </dgm:t>
    </dgm:pt>
    <dgm:pt modelId="{8FB98176-0AF8-4649-8346-ACA830463A0E}" type="sibTrans" cxnId="{27881342-E001-4888-AC5D-025A6CD389D8}">
      <dgm:prSet/>
      <dgm:spPr>
        <a:solidFill>
          <a:schemeClr val="bg1"/>
        </a:solidFill>
        <a:ln>
          <a:solidFill>
            <a:srgbClr val="0070C0"/>
          </a:solidFill>
        </a:ln>
      </dgm:spPr>
      <dgm:t>
        <a:bodyPr/>
        <a:lstStyle/>
        <a:p>
          <a:endParaRPr lang="en-US"/>
        </a:p>
      </dgm:t>
    </dgm:pt>
    <dgm:pt modelId="{0769F6FE-1E16-400B-AF96-33B2F53D9EFC}">
      <dgm:prSet phldrT="[Text]"/>
      <dgm:spPr>
        <a:solidFill>
          <a:schemeClr val="bg1"/>
        </a:solidFill>
        <a:ln>
          <a:solidFill>
            <a:srgbClr val="0070C0"/>
          </a:solidFill>
        </a:ln>
      </dgm:spPr>
      <dgm:t>
        <a:bodyPr/>
        <a:lstStyle/>
        <a:p>
          <a:r>
            <a:rPr lang="en-US" dirty="0" smtClean="0">
              <a:solidFill>
                <a:schemeClr val="tx1"/>
              </a:solidFill>
            </a:rPr>
            <a:t>Taking input of two words </a:t>
          </a:r>
          <a:endParaRPr lang="en-US" dirty="0">
            <a:solidFill>
              <a:schemeClr val="tx1"/>
            </a:solidFill>
          </a:endParaRPr>
        </a:p>
      </dgm:t>
    </dgm:pt>
    <dgm:pt modelId="{6C1EAF50-DF1B-4CE7-BCB8-762DAE0C8A07}" type="parTrans" cxnId="{DF624D48-8047-48B4-A097-428CC51FD727}">
      <dgm:prSet/>
      <dgm:spPr/>
      <dgm:t>
        <a:bodyPr/>
        <a:lstStyle/>
        <a:p>
          <a:endParaRPr lang="en-US"/>
        </a:p>
      </dgm:t>
    </dgm:pt>
    <dgm:pt modelId="{F1D871A6-915C-4254-A6C2-55FF9711FED4}" type="sibTrans" cxnId="{DF624D48-8047-48B4-A097-428CC51FD727}">
      <dgm:prSet/>
      <dgm:spPr/>
      <dgm:t>
        <a:bodyPr/>
        <a:lstStyle/>
        <a:p>
          <a:endParaRPr lang="en-US"/>
        </a:p>
      </dgm:t>
    </dgm:pt>
    <dgm:pt modelId="{6555AE5E-C720-4D9C-B502-0DF790605CF2}">
      <dgm:prSet phldrT="[Text]"/>
      <dgm:spPr>
        <a:solidFill>
          <a:schemeClr val="bg1"/>
        </a:solidFill>
        <a:ln>
          <a:solidFill>
            <a:srgbClr val="0070C0"/>
          </a:solidFill>
        </a:ln>
      </dgm:spPr>
      <dgm:t>
        <a:bodyPr/>
        <a:lstStyle/>
        <a:p>
          <a:r>
            <a:rPr lang="en-US" dirty="0" smtClean="0">
              <a:solidFill>
                <a:schemeClr val="tx1"/>
              </a:solidFill>
            </a:rPr>
            <a:t>Testing the Model</a:t>
          </a:r>
          <a:endParaRPr lang="en-US" dirty="0">
            <a:solidFill>
              <a:schemeClr val="tx1"/>
            </a:solidFill>
          </a:endParaRPr>
        </a:p>
      </dgm:t>
    </dgm:pt>
    <dgm:pt modelId="{34D57886-FDF4-4EAE-9ED9-562AE7BD9B0E}" type="parTrans" cxnId="{3761A38D-D539-498C-8223-2A878A505F74}">
      <dgm:prSet/>
      <dgm:spPr/>
      <dgm:t>
        <a:bodyPr/>
        <a:lstStyle/>
        <a:p>
          <a:endParaRPr lang="en-US"/>
        </a:p>
      </dgm:t>
    </dgm:pt>
    <dgm:pt modelId="{8096F90B-8C21-415D-A441-CF09E7D79330}" type="sibTrans" cxnId="{3761A38D-D539-498C-8223-2A878A505F74}">
      <dgm:prSet/>
      <dgm:spPr/>
      <dgm:t>
        <a:bodyPr/>
        <a:lstStyle/>
        <a:p>
          <a:endParaRPr lang="en-US"/>
        </a:p>
      </dgm:t>
    </dgm:pt>
    <dgm:pt modelId="{C98D1AD6-A6AC-427D-8A79-972D443B1A30}">
      <dgm:prSet phldrT="[Text]"/>
      <dgm:spPr>
        <a:solidFill>
          <a:schemeClr val="bg1"/>
        </a:solidFill>
        <a:ln>
          <a:solidFill>
            <a:srgbClr val="0070C0"/>
          </a:solidFill>
        </a:ln>
      </dgm:spPr>
      <dgm:t>
        <a:bodyPr/>
        <a:lstStyle/>
        <a:p>
          <a:r>
            <a:rPr lang="en-US" dirty="0" smtClean="0">
              <a:solidFill>
                <a:schemeClr val="tx1"/>
              </a:solidFill>
            </a:rPr>
            <a:t>K-fold cross validation</a:t>
          </a:r>
          <a:endParaRPr lang="en-US" dirty="0">
            <a:solidFill>
              <a:schemeClr val="tx1"/>
            </a:solidFill>
          </a:endParaRPr>
        </a:p>
      </dgm:t>
    </dgm:pt>
    <dgm:pt modelId="{5CBAC5B3-6FA6-47C8-BCBC-59A656A8C633}" type="parTrans" cxnId="{D78F1BE6-C9ED-40DC-A667-3B16A933FEF9}">
      <dgm:prSet/>
      <dgm:spPr/>
      <dgm:t>
        <a:bodyPr/>
        <a:lstStyle/>
        <a:p>
          <a:endParaRPr lang="en-US"/>
        </a:p>
      </dgm:t>
    </dgm:pt>
    <dgm:pt modelId="{A98C927B-121D-4D00-8627-972AE8EFDB1C}" type="sibTrans" cxnId="{D78F1BE6-C9ED-40DC-A667-3B16A933FEF9}">
      <dgm:prSet/>
      <dgm:spPr/>
      <dgm:t>
        <a:bodyPr/>
        <a:lstStyle/>
        <a:p>
          <a:endParaRPr lang="en-US"/>
        </a:p>
      </dgm:t>
    </dgm:pt>
    <dgm:pt modelId="{14BF57F0-FF46-483D-9DBC-528A83ACB211}">
      <dgm:prSet phldrT="[Text]"/>
      <dgm:spPr>
        <a:solidFill>
          <a:schemeClr val="bg1"/>
        </a:solidFill>
        <a:ln>
          <a:solidFill>
            <a:srgbClr val="0070C0"/>
          </a:solidFill>
        </a:ln>
      </dgm:spPr>
      <dgm:t>
        <a:bodyPr/>
        <a:lstStyle/>
        <a:p>
          <a:r>
            <a:rPr lang="en-US" dirty="0" smtClean="0">
              <a:solidFill>
                <a:schemeClr val="tx1"/>
              </a:solidFill>
            </a:rPr>
            <a:t>Accuracy</a:t>
          </a:r>
          <a:endParaRPr lang="en-US" dirty="0">
            <a:solidFill>
              <a:schemeClr val="tx1"/>
            </a:solidFill>
          </a:endParaRPr>
        </a:p>
      </dgm:t>
    </dgm:pt>
    <dgm:pt modelId="{ED7EC57B-0DB2-466F-AAFC-37C553784B56}" type="parTrans" cxnId="{60AF51E9-4BED-46FC-9B45-D2F4458A8EFC}">
      <dgm:prSet/>
      <dgm:spPr/>
      <dgm:t>
        <a:bodyPr/>
        <a:lstStyle/>
        <a:p>
          <a:endParaRPr lang="en-US"/>
        </a:p>
      </dgm:t>
    </dgm:pt>
    <dgm:pt modelId="{19462423-CA79-4F36-872D-A3F613CBCDD3}" type="sibTrans" cxnId="{60AF51E9-4BED-46FC-9B45-D2F4458A8EFC}">
      <dgm:prSet/>
      <dgm:spPr/>
      <dgm:t>
        <a:bodyPr/>
        <a:lstStyle/>
        <a:p>
          <a:endParaRPr lang="en-US"/>
        </a:p>
      </dgm:t>
    </dgm:pt>
    <dgm:pt modelId="{675AFE46-07BF-4FA2-A30B-594043A30062}">
      <dgm:prSet phldrT="[Text]"/>
      <dgm:spPr>
        <a:solidFill>
          <a:schemeClr val="bg1"/>
        </a:solidFill>
        <a:ln>
          <a:solidFill>
            <a:srgbClr val="0070C0"/>
          </a:solidFill>
        </a:ln>
      </dgm:spPr>
      <dgm:t>
        <a:bodyPr/>
        <a:lstStyle/>
        <a:p>
          <a:r>
            <a:rPr lang="en-US" dirty="0" smtClean="0">
              <a:solidFill>
                <a:schemeClr val="tx1"/>
              </a:solidFill>
            </a:rPr>
            <a:t>Joining all 25 Headlines</a:t>
          </a:r>
          <a:endParaRPr lang="en-US" dirty="0">
            <a:solidFill>
              <a:schemeClr val="tx1"/>
            </a:solidFill>
          </a:endParaRPr>
        </a:p>
      </dgm:t>
    </dgm:pt>
    <dgm:pt modelId="{96BF49A5-CB19-4264-BA52-7FF1E1FFD159}" type="parTrans" cxnId="{CCB4360A-94D0-4BFF-B3AE-AF2A59F955E0}">
      <dgm:prSet/>
      <dgm:spPr/>
      <dgm:t>
        <a:bodyPr/>
        <a:lstStyle/>
        <a:p>
          <a:endParaRPr lang="en-US"/>
        </a:p>
      </dgm:t>
    </dgm:pt>
    <dgm:pt modelId="{7773B52D-560D-419B-B5C3-1DC8DD06F173}" type="sibTrans" cxnId="{CCB4360A-94D0-4BFF-B3AE-AF2A59F955E0}">
      <dgm:prSet/>
      <dgm:spPr/>
      <dgm:t>
        <a:bodyPr/>
        <a:lstStyle/>
        <a:p>
          <a:endParaRPr lang="en-US"/>
        </a:p>
      </dgm:t>
    </dgm:pt>
    <dgm:pt modelId="{E405C7EC-956B-484D-8D75-2CB685214C78}" type="pres">
      <dgm:prSet presAssocID="{EA476ACC-5C3F-4519-BE78-4A1A39A90ABE}" presName="diagram" presStyleCnt="0">
        <dgm:presLayoutVars>
          <dgm:dir/>
          <dgm:resizeHandles val="exact"/>
        </dgm:presLayoutVars>
      </dgm:prSet>
      <dgm:spPr/>
      <dgm:t>
        <a:bodyPr/>
        <a:lstStyle/>
        <a:p>
          <a:endParaRPr lang="en-US"/>
        </a:p>
      </dgm:t>
    </dgm:pt>
    <dgm:pt modelId="{B4E389B6-3FB4-4B04-8711-2E80348F2E66}" type="pres">
      <dgm:prSet presAssocID="{83F3F212-BDA2-4819-9D96-087AA77075E5}" presName="node" presStyleLbl="node1" presStyleIdx="0" presStyleCnt="5">
        <dgm:presLayoutVars>
          <dgm:bulletEnabled val="1"/>
        </dgm:presLayoutVars>
      </dgm:prSet>
      <dgm:spPr/>
      <dgm:t>
        <a:bodyPr/>
        <a:lstStyle/>
        <a:p>
          <a:endParaRPr lang="en-US"/>
        </a:p>
      </dgm:t>
    </dgm:pt>
    <dgm:pt modelId="{0DE68008-CD50-46A5-8052-5EC399143F44}" type="pres">
      <dgm:prSet presAssocID="{450313F2-7063-49DA-B242-BDCAC6115459}" presName="sibTrans" presStyleLbl="sibTrans2D1" presStyleIdx="0" presStyleCnt="4"/>
      <dgm:spPr/>
      <dgm:t>
        <a:bodyPr/>
        <a:lstStyle/>
        <a:p>
          <a:endParaRPr lang="en-US"/>
        </a:p>
      </dgm:t>
    </dgm:pt>
    <dgm:pt modelId="{05CB98BF-9DB1-411C-8191-4CFF5D7BEA07}" type="pres">
      <dgm:prSet presAssocID="{450313F2-7063-49DA-B242-BDCAC6115459}" presName="connectorText" presStyleLbl="sibTrans2D1" presStyleIdx="0" presStyleCnt="4"/>
      <dgm:spPr/>
      <dgm:t>
        <a:bodyPr/>
        <a:lstStyle/>
        <a:p>
          <a:endParaRPr lang="en-US"/>
        </a:p>
      </dgm:t>
    </dgm:pt>
    <dgm:pt modelId="{4FB7F97D-400F-46FF-A404-4D8456ED60A6}" type="pres">
      <dgm:prSet presAssocID="{85DCF67E-2AF2-4075-8EC2-31BF6E6854B3}" presName="node" presStyleLbl="node1" presStyleIdx="1" presStyleCnt="5">
        <dgm:presLayoutVars>
          <dgm:bulletEnabled val="1"/>
        </dgm:presLayoutVars>
      </dgm:prSet>
      <dgm:spPr/>
      <dgm:t>
        <a:bodyPr/>
        <a:lstStyle/>
        <a:p>
          <a:endParaRPr lang="en-US"/>
        </a:p>
      </dgm:t>
    </dgm:pt>
    <dgm:pt modelId="{8A31FF5B-B03F-46E9-9AE8-F6D327BC8977}" type="pres">
      <dgm:prSet presAssocID="{DD5E177B-0480-4BAC-AA5F-5A5B807878E9}" presName="sibTrans" presStyleLbl="sibTrans2D1" presStyleIdx="1" presStyleCnt="4"/>
      <dgm:spPr/>
      <dgm:t>
        <a:bodyPr/>
        <a:lstStyle/>
        <a:p>
          <a:endParaRPr lang="en-US"/>
        </a:p>
      </dgm:t>
    </dgm:pt>
    <dgm:pt modelId="{67B55BF0-C343-424F-A70F-57787BD7A9CC}" type="pres">
      <dgm:prSet presAssocID="{DD5E177B-0480-4BAC-AA5F-5A5B807878E9}" presName="connectorText" presStyleLbl="sibTrans2D1" presStyleIdx="1" presStyleCnt="4"/>
      <dgm:spPr/>
      <dgm:t>
        <a:bodyPr/>
        <a:lstStyle/>
        <a:p>
          <a:endParaRPr lang="en-US"/>
        </a:p>
      </dgm:t>
    </dgm:pt>
    <dgm:pt modelId="{029F31B9-5BBE-4AF0-ACB9-BE0948E5E5FE}" type="pres">
      <dgm:prSet presAssocID="{07E94DD1-C81E-4522-9237-F7BB96422CF5}" presName="node" presStyleLbl="node1" presStyleIdx="2" presStyleCnt="5">
        <dgm:presLayoutVars>
          <dgm:bulletEnabled val="1"/>
        </dgm:presLayoutVars>
      </dgm:prSet>
      <dgm:spPr/>
      <dgm:t>
        <a:bodyPr/>
        <a:lstStyle/>
        <a:p>
          <a:endParaRPr lang="en-US"/>
        </a:p>
      </dgm:t>
    </dgm:pt>
    <dgm:pt modelId="{23E7521C-84AD-4E0E-A6EE-ED78193A2165}" type="pres">
      <dgm:prSet presAssocID="{E9B369D3-0EC1-41C4-9EB6-68F138835DAB}" presName="sibTrans" presStyleLbl="sibTrans2D1" presStyleIdx="2" presStyleCnt="4"/>
      <dgm:spPr/>
      <dgm:t>
        <a:bodyPr/>
        <a:lstStyle/>
        <a:p>
          <a:endParaRPr lang="en-US"/>
        </a:p>
      </dgm:t>
    </dgm:pt>
    <dgm:pt modelId="{2752E10A-244D-4A64-A230-3373B8DE17C6}" type="pres">
      <dgm:prSet presAssocID="{E9B369D3-0EC1-41C4-9EB6-68F138835DAB}" presName="connectorText" presStyleLbl="sibTrans2D1" presStyleIdx="2" presStyleCnt="4"/>
      <dgm:spPr/>
      <dgm:t>
        <a:bodyPr/>
        <a:lstStyle/>
        <a:p>
          <a:endParaRPr lang="en-US"/>
        </a:p>
      </dgm:t>
    </dgm:pt>
    <dgm:pt modelId="{506928BE-177B-4908-A22A-6832A0C6DB97}" type="pres">
      <dgm:prSet presAssocID="{71D69675-7539-43AD-BAC9-79E19BDB8638}" presName="node" presStyleLbl="node1" presStyleIdx="3" presStyleCnt="5">
        <dgm:presLayoutVars>
          <dgm:bulletEnabled val="1"/>
        </dgm:presLayoutVars>
      </dgm:prSet>
      <dgm:spPr/>
      <dgm:t>
        <a:bodyPr/>
        <a:lstStyle/>
        <a:p>
          <a:endParaRPr lang="en-US"/>
        </a:p>
      </dgm:t>
    </dgm:pt>
    <dgm:pt modelId="{F15FD4C1-D1B1-4B7D-A8C8-E997D0EC5592}" type="pres">
      <dgm:prSet presAssocID="{8FB98176-0AF8-4649-8346-ACA830463A0E}" presName="sibTrans" presStyleLbl="sibTrans2D1" presStyleIdx="3" presStyleCnt="4"/>
      <dgm:spPr/>
      <dgm:t>
        <a:bodyPr/>
        <a:lstStyle/>
        <a:p>
          <a:endParaRPr lang="en-US"/>
        </a:p>
      </dgm:t>
    </dgm:pt>
    <dgm:pt modelId="{60F1AE0B-A9D6-45CC-AA53-6D67A56C19BB}" type="pres">
      <dgm:prSet presAssocID="{8FB98176-0AF8-4649-8346-ACA830463A0E}" presName="connectorText" presStyleLbl="sibTrans2D1" presStyleIdx="3" presStyleCnt="4"/>
      <dgm:spPr/>
      <dgm:t>
        <a:bodyPr/>
        <a:lstStyle/>
        <a:p>
          <a:endParaRPr lang="en-US"/>
        </a:p>
      </dgm:t>
    </dgm:pt>
    <dgm:pt modelId="{D84C71BC-CB3F-4181-928F-6A9564D9F685}" type="pres">
      <dgm:prSet presAssocID="{6555AE5E-C720-4D9C-B502-0DF790605CF2}" presName="node" presStyleLbl="node1" presStyleIdx="4" presStyleCnt="5">
        <dgm:presLayoutVars>
          <dgm:bulletEnabled val="1"/>
        </dgm:presLayoutVars>
      </dgm:prSet>
      <dgm:spPr/>
      <dgm:t>
        <a:bodyPr/>
        <a:lstStyle/>
        <a:p>
          <a:endParaRPr lang="en-US"/>
        </a:p>
      </dgm:t>
    </dgm:pt>
  </dgm:ptLst>
  <dgm:cxnLst>
    <dgm:cxn modelId="{27881342-E001-4888-AC5D-025A6CD389D8}" srcId="{EA476ACC-5C3F-4519-BE78-4A1A39A90ABE}" destId="{71D69675-7539-43AD-BAC9-79E19BDB8638}" srcOrd="3" destOrd="0" parTransId="{B4F9E4AE-6593-4DC3-905C-49FAF8A22E41}" sibTransId="{8FB98176-0AF8-4649-8346-ACA830463A0E}"/>
    <dgm:cxn modelId="{AFE122D4-AFEF-433C-BFE5-44BEFD5D9FD3}" type="presOf" srcId="{6555AE5E-C720-4D9C-B502-0DF790605CF2}" destId="{D84C71BC-CB3F-4181-928F-6A9564D9F685}" srcOrd="0" destOrd="0" presId="urn:microsoft.com/office/officeart/2005/8/layout/process5"/>
    <dgm:cxn modelId="{C35BDB5E-D177-4CC5-BC05-990A87491481}" type="presOf" srcId="{71D69675-7539-43AD-BAC9-79E19BDB8638}" destId="{506928BE-177B-4908-A22A-6832A0C6DB97}" srcOrd="0" destOrd="0" presId="urn:microsoft.com/office/officeart/2005/8/layout/process5"/>
    <dgm:cxn modelId="{CCB4360A-94D0-4BFF-B3AE-AF2A59F955E0}" srcId="{85DCF67E-2AF2-4075-8EC2-31BF6E6854B3}" destId="{675AFE46-07BF-4FA2-A30B-594043A30062}" srcOrd="2" destOrd="0" parTransId="{96BF49A5-CB19-4264-BA52-7FF1E1FFD159}" sibTransId="{7773B52D-560D-419B-B5C3-1DC8DD06F173}"/>
    <dgm:cxn modelId="{BE9F429D-A453-462B-8FFC-182624778D38}" type="presOf" srcId="{8FB98176-0AF8-4649-8346-ACA830463A0E}" destId="{60F1AE0B-A9D6-45CC-AA53-6D67A56C19BB}" srcOrd="1" destOrd="0" presId="urn:microsoft.com/office/officeart/2005/8/layout/process5"/>
    <dgm:cxn modelId="{60AF51E9-4BED-46FC-9B45-D2F4458A8EFC}" srcId="{6555AE5E-C720-4D9C-B502-0DF790605CF2}" destId="{14BF57F0-FF46-483D-9DBC-528A83ACB211}" srcOrd="1" destOrd="0" parTransId="{ED7EC57B-0DB2-466F-AAFC-37C553784B56}" sibTransId="{19462423-CA79-4F36-872D-A3F613CBCDD3}"/>
    <dgm:cxn modelId="{4C934859-3EA7-4C2D-AB8C-5668063A95F8}" type="presOf" srcId="{0769F6FE-1E16-400B-AF96-33B2F53D9EFC}" destId="{506928BE-177B-4908-A22A-6832A0C6DB97}" srcOrd="0" destOrd="1" presId="urn:microsoft.com/office/officeart/2005/8/layout/process5"/>
    <dgm:cxn modelId="{846FE5D5-25F1-45D8-9BC9-E5EBF91CCD90}" srcId="{07E94DD1-C81E-4522-9237-F7BB96422CF5}" destId="{AF52863C-0603-4599-962F-3C21968F743C}" srcOrd="0" destOrd="0" parTransId="{C4192F6C-88F4-41E7-B391-C62C85995748}" sibTransId="{9AE841EA-E133-4688-85CE-7C2B4DAA5B93}"/>
    <dgm:cxn modelId="{478843CD-2C1A-4015-A899-D777DC14A0D6}" srcId="{85DCF67E-2AF2-4075-8EC2-31BF6E6854B3}" destId="{8D4469DD-F860-43BF-A05E-2C6B72905102}" srcOrd="0" destOrd="0" parTransId="{E6277B22-42AD-41ED-825A-FEE60F16A051}" sibTransId="{65578B12-4C56-49DB-AAB9-9783702BADA7}"/>
    <dgm:cxn modelId="{0BEE5EA0-92AF-4679-8707-1BB28EF54EDB}" srcId="{83F3F212-BDA2-4819-9D96-087AA77075E5}" destId="{874D8D2A-4D01-4B76-A787-FC80C3C571D7}" srcOrd="0" destOrd="0" parTransId="{3609F66D-0101-4F69-AE66-33146EA648F5}" sibTransId="{BABC220A-DC41-4E8C-BADB-D913A1F2C527}"/>
    <dgm:cxn modelId="{988D4987-D58D-46D2-9EEE-BFCA07E47576}" type="presOf" srcId="{C98D1AD6-A6AC-427D-8A79-972D443B1A30}" destId="{D84C71BC-CB3F-4181-928F-6A9564D9F685}" srcOrd="0" destOrd="1" presId="urn:microsoft.com/office/officeart/2005/8/layout/process5"/>
    <dgm:cxn modelId="{D78F1BE6-C9ED-40DC-A667-3B16A933FEF9}" srcId="{6555AE5E-C720-4D9C-B502-0DF790605CF2}" destId="{C98D1AD6-A6AC-427D-8A79-972D443B1A30}" srcOrd="0" destOrd="0" parTransId="{5CBAC5B3-6FA6-47C8-BCBC-59A656A8C633}" sibTransId="{A98C927B-121D-4D00-8627-972AE8EFDB1C}"/>
    <dgm:cxn modelId="{04F4AC29-A563-405D-9C67-6C423ED741E2}" type="presOf" srcId="{DD5E177B-0480-4BAC-AA5F-5A5B807878E9}" destId="{8A31FF5B-B03F-46E9-9AE8-F6D327BC8977}" srcOrd="0" destOrd="0" presId="urn:microsoft.com/office/officeart/2005/8/layout/process5"/>
    <dgm:cxn modelId="{3471035B-EAA3-45D5-B24D-F3B9719A4B82}" type="presOf" srcId="{029D49B4-C40F-456D-A86C-C82740F2F592}" destId="{B4E389B6-3FB4-4B04-8711-2E80348F2E66}" srcOrd="0" destOrd="2" presId="urn:microsoft.com/office/officeart/2005/8/layout/process5"/>
    <dgm:cxn modelId="{FE27E642-1EBE-4DA5-824F-6B07B5AB9D2B}" type="presOf" srcId="{675AFE46-07BF-4FA2-A30B-594043A30062}" destId="{4FB7F97D-400F-46FF-A404-4D8456ED60A6}" srcOrd="0" destOrd="3" presId="urn:microsoft.com/office/officeart/2005/8/layout/process5"/>
    <dgm:cxn modelId="{CE955E86-1863-4239-AE13-3E034291D12A}" srcId="{EA476ACC-5C3F-4519-BE78-4A1A39A90ABE}" destId="{07E94DD1-C81E-4522-9237-F7BB96422CF5}" srcOrd="2" destOrd="0" parTransId="{732C317A-CDD6-4A2F-8D31-C18E8016A36B}" sibTransId="{E9B369D3-0EC1-41C4-9EB6-68F138835DAB}"/>
    <dgm:cxn modelId="{DDF224C9-E9E0-4FA1-A3B3-99FB36A953CC}" type="presOf" srcId="{AF52863C-0603-4599-962F-3C21968F743C}" destId="{029F31B9-5BBE-4AF0-ACB9-BE0948E5E5FE}" srcOrd="0" destOrd="1" presId="urn:microsoft.com/office/officeart/2005/8/layout/process5"/>
    <dgm:cxn modelId="{E65DB4FE-11B4-46ED-8075-7E34B4F129EF}" srcId="{EA476ACC-5C3F-4519-BE78-4A1A39A90ABE}" destId="{83F3F212-BDA2-4819-9D96-087AA77075E5}" srcOrd="0" destOrd="0" parTransId="{8DEAFCCF-D1A4-4A1F-B7D4-171BC81FD2EF}" sibTransId="{450313F2-7063-49DA-B242-BDCAC6115459}"/>
    <dgm:cxn modelId="{3F71D05B-BADA-4D94-AAEB-FAAABDB944D7}" type="presOf" srcId="{874D8D2A-4D01-4B76-A787-FC80C3C571D7}" destId="{B4E389B6-3FB4-4B04-8711-2E80348F2E66}" srcOrd="0" destOrd="1" presId="urn:microsoft.com/office/officeart/2005/8/layout/process5"/>
    <dgm:cxn modelId="{F4F3D84D-9C95-48D5-9DE6-247F931B64E9}" type="presOf" srcId="{14BF57F0-FF46-483D-9DBC-528A83ACB211}" destId="{D84C71BC-CB3F-4181-928F-6A9564D9F685}" srcOrd="0" destOrd="2" presId="urn:microsoft.com/office/officeart/2005/8/layout/process5"/>
    <dgm:cxn modelId="{C9C3A625-E93A-4196-93FE-1DDF07EC219C}" type="presOf" srcId="{83F3F212-BDA2-4819-9D96-087AA77075E5}" destId="{B4E389B6-3FB4-4B04-8711-2E80348F2E66}" srcOrd="0" destOrd="0" presId="urn:microsoft.com/office/officeart/2005/8/layout/process5"/>
    <dgm:cxn modelId="{B5C8B2A9-CE1B-4E19-8CD0-95747339DE72}" type="presOf" srcId="{07E94DD1-C81E-4522-9237-F7BB96422CF5}" destId="{029F31B9-5BBE-4AF0-ACB9-BE0948E5E5FE}" srcOrd="0" destOrd="0" presId="urn:microsoft.com/office/officeart/2005/8/layout/process5"/>
    <dgm:cxn modelId="{8872DD35-A3B6-41BE-8236-692FF1AFCE6F}" srcId="{85DCF67E-2AF2-4075-8EC2-31BF6E6854B3}" destId="{B3A907F9-58E5-4CBC-967C-B455E4BFF76B}" srcOrd="1" destOrd="0" parTransId="{F3136013-6A95-416A-8338-F631F8993940}" sibTransId="{F49E699A-433D-499C-B1A8-CD95C61CF15D}"/>
    <dgm:cxn modelId="{BAFEE7D5-89C7-4940-A2DC-E34D0C6B942F}" type="presOf" srcId="{E9B369D3-0EC1-41C4-9EB6-68F138835DAB}" destId="{2752E10A-244D-4A64-A230-3373B8DE17C6}" srcOrd="1" destOrd="0" presId="urn:microsoft.com/office/officeart/2005/8/layout/process5"/>
    <dgm:cxn modelId="{1987E081-C6F0-4906-8D36-6A5E27E6C40A}" type="presOf" srcId="{450313F2-7063-49DA-B242-BDCAC6115459}" destId="{05CB98BF-9DB1-411C-8191-4CFF5D7BEA07}" srcOrd="1" destOrd="0" presId="urn:microsoft.com/office/officeart/2005/8/layout/process5"/>
    <dgm:cxn modelId="{6F94189A-F9E0-450A-BC63-7C40BB364BCA}" type="presOf" srcId="{8D4469DD-F860-43BF-A05E-2C6B72905102}" destId="{4FB7F97D-400F-46FF-A404-4D8456ED60A6}" srcOrd="0" destOrd="1" presId="urn:microsoft.com/office/officeart/2005/8/layout/process5"/>
    <dgm:cxn modelId="{6D459E8F-02E6-4DE7-A747-98C70955B083}" type="presOf" srcId="{E9B369D3-0EC1-41C4-9EB6-68F138835DAB}" destId="{23E7521C-84AD-4E0E-A6EE-ED78193A2165}" srcOrd="0" destOrd="0" presId="urn:microsoft.com/office/officeart/2005/8/layout/process5"/>
    <dgm:cxn modelId="{568142D4-903B-4542-BB22-3B3A9428D6B2}" type="presOf" srcId="{EA476ACC-5C3F-4519-BE78-4A1A39A90ABE}" destId="{E405C7EC-956B-484D-8D75-2CB685214C78}" srcOrd="0" destOrd="0" presId="urn:microsoft.com/office/officeart/2005/8/layout/process5"/>
    <dgm:cxn modelId="{E2D37984-E0A7-4F75-B025-92FF3808AF54}" type="presOf" srcId="{8FB98176-0AF8-4649-8346-ACA830463A0E}" destId="{F15FD4C1-D1B1-4B7D-A8C8-E997D0EC5592}" srcOrd="0" destOrd="0" presId="urn:microsoft.com/office/officeart/2005/8/layout/process5"/>
    <dgm:cxn modelId="{BD9307CA-8310-4D9A-8DB6-178BFBCFE924}" srcId="{EA476ACC-5C3F-4519-BE78-4A1A39A90ABE}" destId="{85DCF67E-2AF2-4075-8EC2-31BF6E6854B3}" srcOrd="1" destOrd="0" parTransId="{8ADA7C70-908F-43D3-8A0F-2D774B9A9C5E}" sibTransId="{DD5E177B-0480-4BAC-AA5F-5A5B807878E9}"/>
    <dgm:cxn modelId="{3761A38D-D539-498C-8223-2A878A505F74}" srcId="{EA476ACC-5C3F-4519-BE78-4A1A39A90ABE}" destId="{6555AE5E-C720-4D9C-B502-0DF790605CF2}" srcOrd="4" destOrd="0" parTransId="{34D57886-FDF4-4EAE-9ED9-562AE7BD9B0E}" sibTransId="{8096F90B-8C21-415D-A441-CF09E7D79330}"/>
    <dgm:cxn modelId="{C23B9AB8-E6C2-4C53-9337-411F56B5E0E5}" srcId="{83F3F212-BDA2-4819-9D96-087AA77075E5}" destId="{029D49B4-C40F-456D-A86C-C82740F2F592}" srcOrd="1" destOrd="0" parTransId="{17B709D8-635A-4FBB-B8AA-86972209EED7}" sibTransId="{02B641A4-7607-43A5-A6A4-5A5FD6DC155B}"/>
    <dgm:cxn modelId="{E4478F01-3945-4689-B827-233DAD8EDF1B}" type="presOf" srcId="{450313F2-7063-49DA-B242-BDCAC6115459}" destId="{0DE68008-CD50-46A5-8052-5EC399143F44}" srcOrd="0" destOrd="0" presId="urn:microsoft.com/office/officeart/2005/8/layout/process5"/>
    <dgm:cxn modelId="{C66FB1A3-3E45-4C50-8E4A-D687AB27BF83}" type="presOf" srcId="{DD5E177B-0480-4BAC-AA5F-5A5B807878E9}" destId="{67B55BF0-C343-424F-A70F-57787BD7A9CC}" srcOrd="1" destOrd="0" presId="urn:microsoft.com/office/officeart/2005/8/layout/process5"/>
    <dgm:cxn modelId="{52D4BDB3-65CD-46B1-891E-D8BFD34C0469}" type="presOf" srcId="{B3A907F9-58E5-4CBC-967C-B455E4BFF76B}" destId="{4FB7F97D-400F-46FF-A404-4D8456ED60A6}" srcOrd="0" destOrd="2" presId="urn:microsoft.com/office/officeart/2005/8/layout/process5"/>
    <dgm:cxn modelId="{DF624D48-8047-48B4-A097-428CC51FD727}" srcId="{71D69675-7539-43AD-BAC9-79E19BDB8638}" destId="{0769F6FE-1E16-400B-AF96-33B2F53D9EFC}" srcOrd="0" destOrd="0" parTransId="{6C1EAF50-DF1B-4CE7-BCB8-762DAE0C8A07}" sibTransId="{F1D871A6-915C-4254-A6C2-55FF9711FED4}"/>
    <dgm:cxn modelId="{A399FDDE-1648-46EF-983C-C892D93120C1}" type="presOf" srcId="{85DCF67E-2AF2-4075-8EC2-31BF6E6854B3}" destId="{4FB7F97D-400F-46FF-A404-4D8456ED60A6}" srcOrd="0" destOrd="0" presId="urn:microsoft.com/office/officeart/2005/8/layout/process5"/>
    <dgm:cxn modelId="{1F749D31-FE40-4102-BB0A-237570334281}" type="presParOf" srcId="{E405C7EC-956B-484D-8D75-2CB685214C78}" destId="{B4E389B6-3FB4-4B04-8711-2E80348F2E66}" srcOrd="0" destOrd="0" presId="urn:microsoft.com/office/officeart/2005/8/layout/process5"/>
    <dgm:cxn modelId="{41E39187-72E4-48F9-8EEF-0F7E7D9954F0}" type="presParOf" srcId="{E405C7EC-956B-484D-8D75-2CB685214C78}" destId="{0DE68008-CD50-46A5-8052-5EC399143F44}" srcOrd="1" destOrd="0" presId="urn:microsoft.com/office/officeart/2005/8/layout/process5"/>
    <dgm:cxn modelId="{FCDB76E2-D88D-4557-A565-839DA237AE43}" type="presParOf" srcId="{0DE68008-CD50-46A5-8052-5EC399143F44}" destId="{05CB98BF-9DB1-411C-8191-4CFF5D7BEA07}" srcOrd="0" destOrd="0" presId="urn:microsoft.com/office/officeart/2005/8/layout/process5"/>
    <dgm:cxn modelId="{87D4E8C7-B800-4BB1-9D79-E031C9F3AF98}" type="presParOf" srcId="{E405C7EC-956B-484D-8D75-2CB685214C78}" destId="{4FB7F97D-400F-46FF-A404-4D8456ED60A6}" srcOrd="2" destOrd="0" presId="urn:microsoft.com/office/officeart/2005/8/layout/process5"/>
    <dgm:cxn modelId="{786226FE-7D24-4FD4-A1C2-5F2E1DAE2CE5}" type="presParOf" srcId="{E405C7EC-956B-484D-8D75-2CB685214C78}" destId="{8A31FF5B-B03F-46E9-9AE8-F6D327BC8977}" srcOrd="3" destOrd="0" presId="urn:microsoft.com/office/officeart/2005/8/layout/process5"/>
    <dgm:cxn modelId="{D0BB10A3-ECCA-431F-8F50-BBF55C5D8FCC}" type="presParOf" srcId="{8A31FF5B-B03F-46E9-9AE8-F6D327BC8977}" destId="{67B55BF0-C343-424F-A70F-57787BD7A9CC}" srcOrd="0" destOrd="0" presId="urn:microsoft.com/office/officeart/2005/8/layout/process5"/>
    <dgm:cxn modelId="{5B7E96E4-33B0-4011-B47F-2166C33A2777}" type="presParOf" srcId="{E405C7EC-956B-484D-8D75-2CB685214C78}" destId="{029F31B9-5BBE-4AF0-ACB9-BE0948E5E5FE}" srcOrd="4" destOrd="0" presId="urn:microsoft.com/office/officeart/2005/8/layout/process5"/>
    <dgm:cxn modelId="{22FD2C9D-2624-4895-9956-C5C8D80D083C}" type="presParOf" srcId="{E405C7EC-956B-484D-8D75-2CB685214C78}" destId="{23E7521C-84AD-4E0E-A6EE-ED78193A2165}" srcOrd="5" destOrd="0" presId="urn:microsoft.com/office/officeart/2005/8/layout/process5"/>
    <dgm:cxn modelId="{2272386C-FF77-42DE-A4EA-BA1C5599608A}" type="presParOf" srcId="{23E7521C-84AD-4E0E-A6EE-ED78193A2165}" destId="{2752E10A-244D-4A64-A230-3373B8DE17C6}" srcOrd="0" destOrd="0" presId="urn:microsoft.com/office/officeart/2005/8/layout/process5"/>
    <dgm:cxn modelId="{D59564DD-D503-4A1B-BCA2-5877A0407669}" type="presParOf" srcId="{E405C7EC-956B-484D-8D75-2CB685214C78}" destId="{506928BE-177B-4908-A22A-6832A0C6DB97}" srcOrd="6" destOrd="0" presId="urn:microsoft.com/office/officeart/2005/8/layout/process5"/>
    <dgm:cxn modelId="{E757EA8B-7677-4F51-BB8A-A1FB483264B5}" type="presParOf" srcId="{E405C7EC-956B-484D-8D75-2CB685214C78}" destId="{F15FD4C1-D1B1-4B7D-A8C8-E997D0EC5592}" srcOrd="7" destOrd="0" presId="urn:microsoft.com/office/officeart/2005/8/layout/process5"/>
    <dgm:cxn modelId="{EE496CDE-18CB-4ADC-A824-C1EFC03A0E77}" type="presParOf" srcId="{F15FD4C1-D1B1-4B7D-A8C8-E997D0EC5592}" destId="{60F1AE0B-A9D6-45CC-AA53-6D67A56C19BB}" srcOrd="0" destOrd="0" presId="urn:microsoft.com/office/officeart/2005/8/layout/process5"/>
    <dgm:cxn modelId="{ACF6075F-736D-4F57-9754-28DAC365C734}" type="presParOf" srcId="{E405C7EC-956B-484D-8D75-2CB685214C78}" destId="{D84C71BC-CB3F-4181-928F-6A9564D9F685}"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E389B6-3FB4-4B04-8711-2E80348F2E66}">
      <dsp:nvSpPr>
        <dsp:cNvPr id="0" name=""/>
        <dsp:cNvSpPr/>
      </dsp:nvSpPr>
      <dsp:spPr>
        <a:xfrm>
          <a:off x="564066" y="337"/>
          <a:ext cx="2350070" cy="1410042"/>
        </a:xfrm>
        <a:prstGeom prst="roundRect">
          <a:avLst>
            <a:gd name="adj" fmla="val 10000"/>
          </a:avLst>
        </a:prstGeom>
        <a:solidFill>
          <a:schemeClr val="bg1"/>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rPr>
            <a:t>EDA and Data Visualization</a:t>
          </a:r>
          <a:endParaRPr lang="en-US" sz="18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Total Data points</a:t>
          </a:r>
          <a:endParaRPr lang="en-US" sz="14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Negative/Positive Sentiments</a:t>
          </a:r>
          <a:endParaRPr lang="en-US" sz="1400" kern="1200" dirty="0">
            <a:solidFill>
              <a:schemeClr val="tx1"/>
            </a:solidFill>
          </a:endParaRPr>
        </a:p>
      </dsp:txBody>
      <dsp:txXfrm>
        <a:off x="605365" y="41636"/>
        <a:ext cx="2267472" cy="1327444"/>
      </dsp:txXfrm>
    </dsp:sp>
    <dsp:sp modelId="{0DE68008-CD50-46A5-8052-5EC399143F44}">
      <dsp:nvSpPr>
        <dsp:cNvPr id="0" name=""/>
        <dsp:cNvSpPr/>
      </dsp:nvSpPr>
      <dsp:spPr>
        <a:xfrm>
          <a:off x="3120942" y="413950"/>
          <a:ext cx="498214" cy="582817"/>
        </a:xfrm>
        <a:prstGeom prst="rightArrow">
          <a:avLst>
            <a:gd name="adj1" fmla="val 60000"/>
            <a:gd name="adj2" fmla="val 50000"/>
          </a:avLst>
        </a:prstGeom>
        <a:solidFill>
          <a:schemeClr val="bg1"/>
        </a:solidFill>
        <a:ln>
          <a:solidFill>
            <a:srgbClr val="0070C0"/>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a:off x="3120942" y="530513"/>
        <a:ext cx="348750" cy="349691"/>
      </dsp:txXfrm>
    </dsp:sp>
    <dsp:sp modelId="{4FB7F97D-400F-46FF-A404-4D8456ED60A6}">
      <dsp:nvSpPr>
        <dsp:cNvPr id="0" name=""/>
        <dsp:cNvSpPr/>
      </dsp:nvSpPr>
      <dsp:spPr>
        <a:xfrm>
          <a:off x="3854164" y="337"/>
          <a:ext cx="2350070" cy="1410042"/>
        </a:xfrm>
        <a:prstGeom prst="roundRect">
          <a:avLst>
            <a:gd name="adj" fmla="val 10000"/>
          </a:avLst>
        </a:prstGeom>
        <a:solidFill>
          <a:schemeClr val="bg1"/>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rPr>
            <a:t>Data Preprocessing</a:t>
          </a:r>
          <a:endParaRPr lang="en-US" sz="18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Removing Punctuations</a:t>
          </a:r>
          <a:endParaRPr lang="en-US" sz="14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Converting to Lower Case</a:t>
          </a:r>
          <a:endParaRPr lang="en-US" sz="14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Joining all 25 Headlines</a:t>
          </a:r>
          <a:endParaRPr lang="en-US" sz="1400" kern="1200" dirty="0">
            <a:solidFill>
              <a:schemeClr val="tx1"/>
            </a:solidFill>
          </a:endParaRPr>
        </a:p>
      </dsp:txBody>
      <dsp:txXfrm>
        <a:off x="3895463" y="41636"/>
        <a:ext cx="2267472" cy="1327444"/>
      </dsp:txXfrm>
    </dsp:sp>
    <dsp:sp modelId="{8A31FF5B-B03F-46E9-9AE8-F6D327BC8977}">
      <dsp:nvSpPr>
        <dsp:cNvPr id="0" name=""/>
        <dsp:cNvSpPr/>
      </dsp:nvSpPr>
      <dsp:spPr>
        <a:xfrm>
          <a:off x="6411041" y="413950"/>
          <a:ext cx="498214" cy="582817"/>
        </a:xfrm>
        <a:prstGeom prst="rightArrow">
          <a:avLst>
            <a:gd name="adj1" fmla="val 60000"/>
            <a:gd name="adj2" fmla="val 50000"/>
          </a:avLst>
        </a:prstGeom>
        <a:solidFill>
          <a:schemeClr val="bg1"/>
        </a:solidFill>
        <a:ln>
          <a:solidFill>
            <a:srgbClr val="0070C0"/>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a:off x="6411041" y="530513"/>
        <a:ext cx="348750" cy="349691"/>
      </dsp:txXfrm>
    </dsp:sp>
    <dsp:sp modelId="{029F31B9-5BBE-4AF0-ACB9-BE0948E5E5FE}">
      <dsp:nvSpPr>
        <dsp:cNvPr id="0" name=""/>
        <dsp:cNvSpPr/>
      </dsp:nvSpPr>
      <dsp:spPr>
        <a:xfrm>
          <a:off x="7144263" y="337"/>
          <a:ext cx="2350070" cy="1410042"/>
        </a:xfrm>
        <a:prstGeom prst="roundRect">
          <a:avLst>
            <a:gd name="adj" fmla="val 10000"/>
          </a:avLst>
        </a:prstGeom>
        <a:solidFill>
          <a:schemeClr val="bg1"/>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rPr>
            <a:t>Construction of Bag of Words</a:t>
          </a:r>
          <a:endParaRPr lang="en-US" sz="18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Sentence to Vector</a:t>
          </a:r>
          <a:endParaRPr lang="en-US" sz="1400" kern="1200" dirty="0">
            <a:solidFill>
              <a:schemeClr val="tx1"/>
            </a:solidFill>
          </a:endParaRPr>
        </a:p>
      </dsp:txBody>
      <dsp:txXfrm>
        <a:off x="7185562" y="41636"/>
        <a:ext cx="2267472" cy="1327444"/>
      </dsp:txXfrm>
    </dsp:sp>
    <dsp:sp modelId="{23E7521C-84AD-4E0E-A6EE-ED78193A2165}">
      <dsp:nvSpPr>
        <dsp:cNvPr id="0" name=""/>
        <dsp:cNvSpPr/>
      </dsp:nvSpPr>
      <dsp:spPr>
        <a:xfrm rot="5400000">
          <a:off x="8070191" y="1574884"/>
          <a:ext cx="498214" cy="582817"/>
        </a:xfrm>
        <a:prstGeom prst="rightArrow">
          <a:avLst>
            <a:gd name="adj1" fmla="val 60000"/>
            <a:gd name="adj2" fmla="val 50000"/>
          </a:avLst>
        </a:prstGeom>
        <a:solidFill>
          <a:schemeClr val="bg1"/>
        </a:solidFill>
        <a:ln>
          <a:solidFill>
            <a:srgbClr val="0070C0"/>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rot="-5400000">
        <a:off x="8144453" y="1617185"/>
        <a:ext cx="349691" cy="348750"/>
      </dsp:txXfrm>
    </dsp:sp>
    <dsp:sp modelId="{506928BE-177B-4908-A22A-6832A0C6DB97}">
      <dsp:nvSpPr>
        <dsp:cNvPr id="0" name=""/>
        <dsp:cNvSpPr/>
      </dsp:nvSpPr>
      <dsp:spPr>
        <a:xfrm>
          <a:off x="7144263" y="2350408"/>
          <a:ext cx="2350070" cy="1410042"/>
        </a:xfrm>
        <a:prstGeom prst="roundRect">
          <a:avLst>
            <a:gd name="adj" fmla="val 10000"/>
          </a:avLst>
        </a:prstGeom>
        <a:solidFill>
          <a:schemeClr val="bg1"/>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rPr>
            <a:t>Modified Multinomial Naïve Bayes</a:t>
          </a:r>
          <a:endParaRPr lang="en-US" sz="18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Taking input of two words </a:t>
          </a:r>
          <a:endParaRPr lang="en-US" sz="1400" kern="1200" dirty="0">
            <a:solidFill>
              <a:schemeClr val="tx1"/>
            </a:solidFill>
          </a:endParaRPr>
        </a:p>
      </dsp:txBody>
      <dsp:txXfrm>
        <a:off x="7185562" y="2391707"/>
        <a:ext cx="2267472" cy="1327444"/>
      </dsp:txXfrm>
    </dsp:sp>
    <dsp:sp modelId="{F15FD4C1-D1B1-4B7D-A8C8-E997D0EC5592}">
      <dsp:nvSpPr>
        <dsp:cNvPr id="0" name=""/>
        <dsp:cNvSpPr/>
      </dsp:nvSpPr>
      <dsp:spPr>
        <a:xfrm rot="10800000">
          <a:off x="6439242" y="2764020"/>
          <a:ext cx="498214" cy="582817"/>
        </a:xfrm>
        <a:prstGeom prst="rightArrow">
          <a:avLst>
            <a:gd name="adj1" fmla="val 60000"/>
            <a:gd name="adj2" fmla="val 50000"/>
          </a:avLst>
        </a:prstGeom>
        <a:solidFill>
          <a:schemeClr val="bg1"/>
        </a:solidFill>
        <a:ln>
          <a:solidFill>
            <a:srgbClr val="0070C0"/>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rot="10800000">
        <a:off x="6588706" y="2880583"/>
        <a:ext cx="348750" cy="349691"/>
      </dsp:txXfrm>
    </dsp:sp>
    <dsp:sp modelId="{D84C71BC-CB3F-4181-928F-6A9564D9F685}">
      <dsp:nvSpPr>
        <dsp:cNvPr id="0" name=""/>
        <dsp:cNvSpPr/>
      </dsp:nvSpPr>
      <dsp:spPr>
        <a:xfrm>
          <a:off x="3854164" y="2350408"/>
          <a:ext cx="2350070" cy="1410042"/>
        </a:xfrm>
        <a:prstGeom prst="roundRect">
          <a:avLst>
            <a:gd name="adj" fmla="val 10000"/>
          </a:avLst>
        </a:prstGeom>
        <a:solidFill>
          <a:schemeClr val="bg1"/>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solidFill>
                <a:schemeClr val="tx1"/>
              </a:solidFill>
            </a:rPr>
            <a:t>Testing the Model</a:t>
          </a:r>
          <a:endParaRPr lang="en-US" sz="18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K-fold cross validation</a:t>
          </a:r>
          <a:endParaRPr lang="en-US" sz="1400" kern="1200" dirty="0">
            <a:solidFill>
              <a:schemeClr val="tx1"/>
            </a:solidFill>
          </a:endParaRPr>
        </a:p>
        <a:p>
          <a:pPr marL="114300" lvl="1" indent="-114300" algn="l" defTabSz="622300">
            <a:lnSpc>
              <a:spcPct val="90000"/>
            </a:lnSpc>
            <a:spcBef>
              <a:spcPct val="0"/>
            </a:spcBef>
            <a:spcAft>
              <a:spcPct val="15000"/>
            </a:spcAft>
            <a:buChar char="••"/>
          </a:pPr>
          <a:r>
            <a:rPr lang="en-US" sz="1400" kern="1200" dirty="0" smtClean="0">
              <a:solidFill>
                <a:schemeClr val="tx1"/>
              </a:solidFill>
            </a:rPr>
            <a:t>Accuracy</a:t>
          </a:r>
          <a:endParaRPr lang="en-US" sz="1400" kern="1200" dirty="0">
            <a:solidFill>
              <a:schemeClr val="tx1"/>
            </a:solidFill>
          </a:endParaRPr>
        </a:p>
      </dsp:txBody>
      <dsp:txXfrm>
        <a:off x="3895463" y="2391707"/>
        <a:ext cx="2267472" cy="1327444"/>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5/24/2022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5/24/2022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5/24/2022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5/24/2022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5/24/2022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5/24/2022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5/24/2022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5/24/2022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5/24/2022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5/24/2022</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5/24/2022</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5/24/2022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transition spd="slow">
    <p:cover/>
  </p:transition>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B2DD30-93DF-41CF-9CF9-EC69C6EFF9F0}"/>
              </a:ext>
            </a:extLst>
          </p:cNvPr>
          <p:cNvSpPr txBox="1"/>
          <p:nvPr/>
        </p:nvSpPr>
        <p:spPr>
          <a:xfrm>
            <a:off x="1771647" y="113530"/>
            <a:ext cx="8643937" cy="830997"/>
          </a:xfrm>
          <a:prstGeom prst="rect">
            <a:avLst/>
          </a:prstGeom>
          <a:noFill/>
        </p:spPr>
        <p:txBody>
          <a:bodyPr wrap="square">
            <a:spAutoFit/>
          </a:bodyPr>
          <a:lstStyle/>
          <a:p>
            <a:pPr algn="ctr" rtl="0">
              <a:spcBef>
                <a:spcPts val="0"/>
              </a:spcBef>
              <a:spcAft>
                <a:spcPts val="0"/>
              </a:spcAft>
            </a:pPr>
            <a:r>
              <a:rPr lang="en-US" sz="2400" b="1" dirty="0"/>
              <a:t>Prediction of stock value changes based on the sentiment analysis of news headlines</a:t>
            </a:r>
          </a:p>
        </p:txBody>
      </p:sp>
      <p:sp>
        <p:nvSpPr>
          <p:cNvPr id="9" name="TextBox 8">
            <a:extLst>
              <a:ext uri="{FF2B5EF4-FFF2-40B4-BE49-F238E27FC236}">
                <a16:creationId xmlns:a16="http://schemas.microsoft.com/office/drawing/2014/main" id="{21C71B48-ABAE-4848-8876-60ED1D7F0489}"/>
              </a:ext>
            </a:extLst>
          </p:cNvPr>
          <p:cNvSpPr txBox="1"/>
          <p:nvPr/>
        </p:nvSpPr>
        <p:spPr>
          <a:xfrm>
            <a:off x="3046808" y="1332999"/>
            <a:ext cx="6093618" cy="1938992"/>
          </a:xfrm>
          <a:prstGeom prst="rect">
            <a:avLst/>
          </a:prstGeom>
          <a:noFill/>
        </p:spPr>
        <p:txBody>
          <a:bodyPr wrap="square">
            <a:spAutoFit/>
          </a:bodyPr>
          <a:lstStyle/>
          <a:p>
            <a:pPr algn="ctr" rtl="0">
              <a:spcBef>
                <a:spcPts val="0"/>
              </a:spcBef>
              <a:spcAft>
                <a:spcPts val="0"/>
              </a:spcAft>
            </a:pPr>
            <a:r>
              <a:rPr lang="en-US" sz="1600" b="1" i="0" u="none" strike="noStrike" dirty="0">
                <a:solidFill>
                  <a:srgbClr val="000000"/>
                </a:solidFill>
                <a:effectLst/>
                <a:latin typeface="Calibri" panose="020F0502020204030204" pitchFamily="34" charset="0"/>
              </a:rPr>
              <a:t>Bachelor of Technology</a:t>
            </a:r>
            <a:endParaRPr lang="en-US" sz="1400" b="0" dirty="0">
              <a:effectLst/>
            </a:endParaRPr>
          </a:p>
          <a:p>
            <a:pPr algn="ctr" rtl="0">
              <a:spcBef>
                <a:spcPts val="0"/>
              </a:spcBef>
              <a:spcAft>
                <a:spcPts val="0"/>
              </a:spcAft>
            </a:pPr>
            <a:r>
              <a:rPr lang="en-US" sz="1600" b="0" i="0" u="none" strike="noStrike" dirty="0">
                <a:solidFill>
                  <a:srgbClr val="000000"/>
                </a:solidFill>
                <a:effectLst/>
                <a:latin typeface="Calibri" panose="020F0502020204030204" pitchFamily="34" charset="0"/>
              </a:rPr>
              <a:t>in</a:t>
            </a:r>
            <a:endParaRPr lang="en-US" sz="1400" b="0" dirty="0">
              <a:effectLst/>
            </a:endParaRPr>
          </a:p>
          <a:p>
            <a:pPr algn="ctr" rtl="0">
              <a:spcBef>
                <a:spcPts val="0"/>
              </a:spcBef>
              <a:spcAft>
                <a:spcPts val="0"/>
              </a:spcAft>
            </a:pPr>
            <a:r>
              <a:rPr lang="en-US" sz="1600" b="1" i="0" u="none" strike="noStrike" dirty="0">
                <a:solidFill>
                  <a:srgbClr val="000000"/>
                </a:solidFill>
                <a:effectLst/>
                <a:latin typeface="Calibri" panose="020F0502020204030204" pitchFamily="34" charset="0"/>
              </a:rPr>
              <a:t>Computer Science and Engineering</a:t>
            </a:r>
            <a:endParaRPr lang="en-US" sz="1400" b="0" dirty="0">
              <a:effectLst/>
            </a:endParaRPr>
          </a:p>
          <a:p>
            <a:pPr algn="ctr" rtl="0">
              <a:spcBef>
                <a:spcPts val="0"/>
              </a:spcBef>
              <a:spcAft>
                <a:spcPts val="0"/>
              </a:spcAft>
            </a:pPr>
            <a:r>
              <a:rPr lang="en-US" sz="1600" b="0" i="0" u="none" strike="noStrike" dirty="0">
                <a:solidFill>
                  <a:srgbClr val="000000"/>
                </a:solidFill>
                <a:effectLst/>
                <a:latin typeface="Calibri" panose="020F0502020204030204" pitchFamily="34" charset="0"/>
              </a:rPr>
              <a:t>By</a:t>
            </a:r>
            <a:r>
              <a:rPr lang="en-US" sz="1400" b="0" dirty="0">
                <a:effectLst/>
              </a:rPr>
              <a:t/>
            </a:r>
            <a:br>
              <a:rPr lang="en-US" sz="1400" b="0" dirty="0">
                <a:effectLst/>
              </a:rPr>
            </a:br>
            <a:r>
              <a:rPr lang="en-US" sz="1400" b="1" dirty="0">
                <a:solidFill>
                  <a:srgbClr val="000000"/>
                </a:solidFill>
                <a:latin typeface="Calibri" panose="020F0502020204030204" pitchFamily="34" charset="0"/>
              </a:rPr>
              <a:t>DEVESH KUMAR SHARMA</a:t>
            </a:r>
            <a:r>
              <a:rPr lang="en-US" sz="1400" b="1" i="0" u="none" strike="noStrike" dirty="0">
                <a:solidFill>
                  <a:srgbClr val="000000"/>
                </a:solidFill>
                <a:effectLst/>
                <a:latin typeface="Calibri" panose="020F0502020204030204" pitchFamily="34" charset="0"/>
              </a:rPr>
              <a:t> </a:t>
            </a:r>
            <a:r>
              <a:rPr lang="en-US" sz="1400" b="0" i="0" u="none" strike="noStrike" dirty="0">
                <a:solidFill>
                  <a:srgbClr val="000000"/>
                </a:solidFill>
                <a:effectLst/>
                <a:latin typeface="Calibri" panose="020F0502020204030204" pitchFamily="34" charset="0"/>
              </a:rPr>
              <a:t>(Reg No. 2018105172) </a:t>
            </a:r>
            <a:endParaRPr lang="en-US" sz="1400" b="0" dirty="0">
              <a:effectLst/>
            </a:endParaRPr>
          </a:p>
          <a:p>
            <a:pPr algn="ctr" rtl="0">
              <a:spcBef>
                <a:spcPts val="0"/>
              </a:spcBef>
              <a:spcAft>
                <a:spcPts val="0"/>
              </a:spcAft>
            </a:pPr>
            <a:r>
              <a:rPr lang="en-US" sz="1400" b="1" dirty="0">
                <a:solidFill>
                  <a:srgbClr val="000000"/>
                </a:solidFill>
                <a:latin typeface="Calibri" panose="020F0502020204030204" pitchFamily="34" charset="0"/>
              </a:rPr>
              <a:t>V VENYI NUKHU</a:t>
            </a:r>
            <a:r>
              <a:rPr lang="en-US" sz="1400" b="1" i="0" u="none" strike="noStrike" dirty="0">
                <a:solidFill>
                  <a:srgbClr val="000000"/>
                </a:solidFill>
                <a:effectLst/>
                <a:latin typeface="Calibri" panose="020F0502020204030204" pitchFamily="34" charset="0"/>
              </a:rPr>
              <a:t> </a:t>
            </a:r>
            <a:r>
              <a:rPr lang="en-US" sz="1400" b="0" i="0" u="none" strike="noStrike" dirty="0">
                <a:solidFill>
                  <a:srgbClr val="000000"/>
                </a:solidFill>
                <a:effectLst/>
                <a:latin typeface="Calibri" panose="020F0502020204030204" pitchFamily="34" charset="0"/>
              </a:rPr>
              <a:t>(Reg No. 2018105189</a:t>
            </a:r>
            <a:r>
              <a:rPr lang="en-US" sz="1400" b="0" i="0" u="none" strike="noStrike" dirty="0" smtClean="0">
                <a:solidFill>
                  <a:srgbClr val="000000"/>
                </a:solidFill>
                <a:effectLst/>
                <a:latin typeface="Calibri" panose="020F0502020204030204" pitchFamily="34" charset="0"/>
              </a:rPr>
              <a:t>)</a:t>
            </a:r>
            <a:endParaRPr lang="en-US" sz="1400" dirty="0" smtClean="0"/>
          </a:p>
          <a:p>
            <a:pPr algn="ctr" rtl="0">
              <a:spcBef>
                <a:spcPts val="0"/>
              </a:spcBef>
              <a:spcAft>
                <a:spcPts val="0"/>
              </a:spcAft>
            </a:pPr>
            <a:endParaRPr lang="en-US" sz="1400" dirty="0"/>
          </a:p>
          <a:p>
            <a:pPr algn="ctr" rtl="0">
              <a:spcBef>
                <a:spcPts val="0"/>
              </a:spcBef>
              <a:spcAft>
                <a:spcPts val="0"/>
              </a:spcAft>
            </a:pPr>
            <a:r>
              <a:rPr lang="en-US" sz="1400" b="1" dirty="0" smtClean="0">
                <a:latin typeface="Calibri" panose="020F0502020204030204" pitchFamily="34" charset="0"/>
                <a:cs typeface="Calibri" panose="020F0502020204030204" pitchFamily="34" charset="0"/>
              </a:rPr>
              <a:t>Under guidance of Dr. ARAMBAM NEELIMA</a:t>
            </a:r>
            <a:endParaRPr lang="en-US" sz="1400" b="1" dirty="0">
              <a:latin typeface="Calibri" panose="020F0502020204030204" pitchFamily="34" charset="0"/>
              <a:cs typeface="Calibri" panose="020F0502020204030204" pitchFamily="34" charset="0"/>
            </a:endParaRPr>
          </a:p>
        </p:txBody>
      </p:sp>
      <p:pic>
        <p:nvPicPr>
          <p:cNvPr id="1026" name="Picture 2" descr="NIT - LOGO">
            <a:extLst>
              <a:ext uri="{FF2B5EF4-FFF2-40B4-BE49-F238E27FC236}">
                <a16:creationId xmlns:a16="http://schemas.microsoft.com/office/drawing/2014/main" id="{88EC78AB-22DD-463F-A6D4-6BCF3100A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5553" y="3508840"/>
            <a:ext cx="1416123" cy="143067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FE41990-F93D-4FC3-A05C-08BE7D962484}"/>
              </a:ext>
            </a:extLst>
          </p:cNvPr>
          <p:cNvSpPr txBox="1"/>
          <p:nvPr/>
        </p:nvSpPr>
        <p:spPr>
          <a:xfrm>
            <a:off x="3046808" y="5176361"/>
            <a:ext cx="6093618" cy="1477328"/>
          </a:xfrm>
          <a:prstGeom prst="rect">
            <a:avLst/>
          </a:prstGeom>
          <a:noFill/>
        </p:spPr>
        <p:txBody>
          <a:bodyPr wrap="square">
            <a:spAutoFit/>
          </a:bodyPr>
          <a:lstStyle/>
          <a:p>
            <a:pPr algn="ctr" rtl="0">
              <a:spcBef>
                <a:spcPts val="0"/>
              </a:spcBef>
              <a:spcAft>
                <a:spcPts val="0"/>
              </a:spcAft>
            </a:pPr>
            <a:r>
              <a:rPr lang="en-US" sz="1800" b="1" i="0" u="none" strike="noStrike" dirty="0">
                <a:solidFill>
                  <a:srgbClr val="000000"/>
                </a:solidFill>
                <a:effectLst/>
                <a:latin typeface="Calibri" panose="020F0502020204030204" pitchFamily="34" charset="0"/>
              </a:rPr>
              <a:t>DEPARTMENT OF COMPUTER SCIENCE AND ENGINEERING</a:t>
            </a:r>
            <a:endParaRPr lang="en-US" b="0" dirty="0">
              <a:effectLst/>
            </a:endParaRPr>
          </a:p>
          <a:p>
            <a:pPr algn="ctr" rtl="0">
              <a:spcBef>
                <a:spcPts val="0"/>
              </a:spcBef>
              <a:spcAft>
                <a:spcPts val="0"/>
              </a:spcAft>
            </a:pPr>
            <a:r>
              <a:rPr lang="en-US" sz="1800" b="1" i="0" u="none" strike="noStrike" dirty="0">
                <a:solidFill>
                  <a:srgbClr val="000000"/>
                </a:solidFill>
                <a:effectLst/>
                <a:latin typeface="Calibri" panose="020F0502020204030204" pitchFamily="34" charset="0"/>
              </a:rPr>
              <a:t>NATIONAL INSTITUTE OF TECHNOLOGY NAGALAND</a:t>
            </a:r>
            <a:endParaRPr lang="en-US" b="0" dirty="0">
              <a:effectLst/>
            </a:endParaRPr>
          </a:p>
          <a:p>
            <a:pPr algn="ctr" rtl="0">
              <a:spcBef>
                <a:spcPts val="0"/>
              </a:spcBef>
              <a:spcAft>
                <a:spcPts val="0"/>
              </a:spcAft>
            </a:pPr>
            <a:r>
              <a:rPr lang="en-US" sz="1800" b="1" i="0" u="none" strike="noStrike" dirty="0">
                <a:solidFill>
                  <a:srgbClr val="000000"/>
                </a:solidFill>
                <a:effectLst/>
                <a:latin typeface="Calibri" panose="020F0502020204030204" pitchFamily="34" charset="0"/>
              </a:rPr>
              <a:t>CHUMUKEDIMA, DIMAPUR 797 103</a:t>
            </a:r>
            <a:endParaRPr lang="en-US" b="0" dirty="0">
              <a:effectLst/>
            </a:endParaRPr>
          </a:p>
          <a:p>
            <a:r>
              <a:rPr lang="en-US" dirty="0"/>
              <a:t/>
            </a:r>
            <a:br>
              <a:rPr lang="en-US" dirty="0"/>
            </a:br>
            <a:endParaRPr lang="en-US" dirty="0"/>
          </a:p>
        </p:txBody>
      </p:sp>
    </p:spTree>
    <p:extLst>
      <p:ext uri="{BB962C8B-B14F-4D97-AF65-F5344CB8AC3E}">
        <p14:creationId xmlns:p14="http://schemas.microsoft.com/office/powerpoint/2010/main" val="1508401753"/>
      </p:ext>
    </p:extLst>
  </p:cSld>
  <p:clrMapOvr>
    <a:masterClrMapping/>
  </p:clrMapOvr>
  <p:transition spd="slow">
    <p:cov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title" idx="4294967295"/>
          </p:nvPr>
        </p:nvSpPr>
        <p:spPr>
          <a:xfrm>
            <a:off x="2133600" y="287338"/>
            <a:ext cx="10058400" cy="1449387"/>
          </a:xfrm>
        </p:spPr>
        <p:txBody>
          <a:bodyPr anchor="ctr">
            <a:normAutofit fontScale="90000"/>
          </a:bodyPr>
          <a:lstStyle/>
          <a:p>
            <a:pPr lvl="0"/>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r>
              <a:rPr lang="en-US" sz="4800" i="1" dirty="0">
                <a:solidFill>
                  <a:srgbClr val="FFFFFF"/>
                </a:solidFill>
              </a:rPr>
              <a:t/>
            </a:r>
            <a:br>
              <a:rPr lang="en-US" sz="4800" i="1" dirty="0">
                <a:solidFill>
                  <a:srgbClr val="FFFFFF"/>
                </a:solidFill>
              </a:rPr>
            </a:br>
            <a:endParaRPr lang="en-US" sz="4800" i="1" dirty="0">
              <a:solidFill>
                <a:srgbClr val="FFFFFF"/>
              </a:solidFill>
            </a:endParaRPr>
          </a:p>
        </p:txBody>
      </p:sp>
      <p:sp>
        <p:nvSpPr>
          <p:cNvPr id="5" name="Content Placeholder 4">
            <a:extLst>
              <a:ext uri="{FF2B5EF4-FFF2-40B4-BE49-F238E27FC236}">
                <a16:creationId xmlns:a16="http://schemas.microsoft.com/office/drawing/2014/main" id="{B0D06D1B-55EF-4FF6-B720-3F302AFDD2D8}"/>
              </a:ext>
            </a:extLst>
          </p:cNvPr>
          <p:cNvSpPr>
            <a:spLocks noGrp="1"/>
          </p:cNvSpPr>
          <p:nvPr>
            <p:ph idx="4294967295"/>
          </p:nvPr>
        </p:nvSpPr>
        <p:spPr>
          <a:xfrm>
            <a:off x="1066800" y="209007"/>
            <a:ext cx="3749040" cy="6191794"/>
          </a:xfrm>
        </p:spPr>
        <p:txBody>
          <a:bodyPr>
            <a:normAutofit lnSpcReduction="10000"/>
          </a:bodyPr>
          <a:lstStyle/>
          <a:p>
            <a:r>
              <a:rPr lang="en-US" sz="4800" i="1" dirty="0" smtClean="0">
                <a:solidFill>
                  <a:schemeClr val="tx1"/>
                </a:solidFill>
              </a:rPr>
              <a:t>Contents:</a:t>
            </a:r>
            <a:endParaRPr lang="en-US" sz="2000" i="1" dirty="0" smtClean="0">
              <a:solidFill>
                <a:schemeClr val="tx1"/>
              </a:solidFill>
            </a:endParaRPr>
          </a:p>
          <a:p>
            <a:pPr marL="457200" indent="-457200">
              <a:buClrTx/>
              <a:buFont typeface="+mj-lt"/>
              <a:buAutoNum type="arabicPeriod"/>
            </a:pPr>
            <a:r>
              <a:rPr lang="en-US" sz="2000" dirty="0" smtClean="0">
                <a:solidFill>
                  <a:schemeClr val="tx1"/>
                </a:solidFill>
              </a:rPr>
              <a:t>Problem Statement</a:t>
            </a:r>
          </a:p>
          <a:p>
            <a:pPr marL="457200" indent="-457200">
              <a:buClrTx/>
              <a:buFont typeface="+mj-lt"/>
              <a:buAutoNum type="arabicPeriod"/>
            </a:pPr>
            <a:r>
              <a:rPr lang="en-US" sz="2000" dirty="0" smtClean="0">
                <a:solidFill>
                  <a:schemeClr val="tx1"/>
                </a:solidFill>
              </a:rPr>
              <a:t>Objective</a:t>
            </a:r>
          </a:p>
          <a:p>
            <a:pPr marL="457200" indent="-457200">
              <a:buClrTx/>
              <a:buFont typeface="+mj-lt"/>
              <a:buAutoNum type="arabicPeriod"/>
            </a:pPr>
            <a:r>
              <a:rPr lang="en-US" sz="2000" dirty="0" smtClean="0">
                <a:solidFill>
                  <a:schemeClr val="tx1"/>
                </a:solidFill>
              </a:rPr>
              <a:t>Literature Review</a:t>
            </a:r>
          </a:p>
          <a:p>
            <a:pPr marL="457200" indent="-457200">
              <a:buClrTx/>
              <a:buFont typeface="+mj-lt"/>
              <a:buAutoNum type="arabicPeriod"/>
            </a:pPr>
            <a:r>
              <a:rPr lang="en-US" dirty="0" smtClean="0">
                <a:solidFill>
                  <a:schemeClr val="tx1"/>
                </a:solidFill>
              </a:rPr>
              <a:t>Proposed Model</a:t>
            </a:r>
          </a:p>
          <a:p>
            <a:pPr marL="457200" indent="-457200">
              <a:buClrTx/>
              <a:buFont typeface="+mj-lt"/>
              <a:buAutoNum type="arabicPeriod"/>
            </a:pPr>
            <a:r>
              <a:rPr lang="en-US" dirty="0" smtClean="0">
                <a:solidFill>
                  <a:schemeClr val="tx1"/>
                </a:solidFill>
              </a:rPr>
              <a:t>Work Done</a:t>
            </a:r>
          </a:p>
          <a:p>
            <a:pPr marL="457200" indent="-457200">
              <a:buClrTx/>
              <a:buFont typeface="+mj-lt"/>
              <a:buAutoNum type="arabicPeriod"/>
            </a:pPr>
            <a:r>
              <a:rPr lang="en-US" dirty="0" smtClean="0">
                <a:solidFill>
                  <a:schemeClr val="tx1"/>
                </a:solidFill>
              </a:rPr>
              <a:t>Exploratory Data Analysis</a:t>
            </a:r>
          </a:p>
          <a:p>
            <a:pPr marL="457200" indent="-457200">
              <a:buClrTx/>
              <a:buFont typeface="+mj-lt"/>
              <a:buAutoNum type="arabicPeriod"/>
            </a:pPr>
            <a:r>
              <a:rPr lang="en-US" dirty="0" smtClean="0">
                <a:solidFill>
                  <a:schemeClr val="tx1"/>
                </a:solidFill>
              </a:rPr>
              <a:t>Data pre-processing</a:t>
            </a:r>
          </a:p>
          <a:p>
            <a:pPr marL="457200" indent="-457200">
              <a:buClrTx/>
              <a:buFont typeface="+mj-lt"/>
              <a:buAutoNum type="arabicPeriod"/>
            </a:pPr>
            <a:r>
              <a:rPr lang="en-US" dirty="0" smtClean="0">
                <a:solidFill>
                  <a:schemeClr val="tx1"/>
                </a:solidFill>
              </a:rPr>
              <a:t>Bag of words</a:t>
            </a:r>
          </a:p>
          <a:p>
            <a:pPr marL="457200" indent="-457200">
              <a:buClrTx/>
              <a:buFont typeface="+mj-lt"/>
              <a:buAutoNum type="arabicPeriod"/>
            </a:pPr>
            <a:r>
              <a:rPr lang="en-US" dirty="0" smtClean="0">
                <a:solidFill>
                  <a:schemeClr val="tx1"/>
                </a:solidFill>
              </a:rPr>
              <a:t>Decision Tree Classifier</a:t>
            </a:r>
          </a:p>
          <a:p>
            <a:pPr marL="457200" indent="-457200">
              <a:buClrTx/>
              <a:buFont typeface="+mj-lt"/>
              <a:buAutoNum type="arabicPeriod"/>
            </a:pPr>
            <a:r>
              <a:rPr lang="en-US" dirty="0" smtClean="0">
                <a:solidFill>
                  <a:schemeClr val="tx1"/>
                </a:solidFill>
              </a:rPr>
              <a:t>Random Forest Classifier</a:t>
            </a:r>
          </a:p>
          <a:p>
            <a:pPr marL="457200" indent="-457200">
              <a:buClrTx/>
              <a:buFont typeface="+mj-lt"/>
              <a:buAutoNum type="arabicPeriod"/>
            </a:pPr>
            <a:r>
              <a:rPr lang="en-US" dirty="0" smtClean="0">
                <a:solidFill>
                  <a:schemeClr val="tx1"/>
                </a:solidFill>
              </a:rPr>
              <a:t>Passive Aggressive Classifier</a:t>
            </a:r>
          </a:p>
          <a:p>
            <a:pPr marL="457200" indent="-457200">
              <a:buClrTx/>
              <a:buFont typeface="+mj-lt"/>
              <a:buAutoNum type="arabicPeriod"/>
            </a:pPr>
            <a:endParaRPr lang="en-US" dirty="0">
              <a:solidFill>
                <a:schemeClr val="tx1"/>
              </a:solidFill>
            </a:endParaRPr>
          </a:p>
        </p:txBody>
      </p:sp>
      <p:sp>
        <p:nvSpPr>
          <p:cNvPr id="4" name="Content Placeholder 4">
            <a:extLst>
              <a:ext uri="{FF2B5EF4-FFF2-40B4-BE49-F238E27FC236}">
                <a16:creationId xmlns:a16="http://schemas.microsoft.com/office/drawing/2014/main" id="{B0D06D1B-55EF-4FF6-B720-3F302AFDD2D8}"/>
              </a:ext>
            </a:extLst>
          </p:cNvPr>
          <p:cNvSpPr txBox="1">
            <a:spLocks/>
          </p:cNvSpPr>
          <p:nvPr/>
        </p:nvSpPr>
        <p:spPr>
          <a:xfrm>
            <a:off x="5408023" y="609600"/>
            <a:ext cx="3988526" cy="5869531"/>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US" sz="2000" i="1" dirty="0" smtClean="0">
              <a:solidFill>
                <a:schemeClr val="tx1"/>
              </a:solidFill>
            </a:endParaRPr>
          </a:p>
          <a:p>
            <a:pPr marL="457200" indent="-457200">
              <a:buClrTx/>
              <a:buFont typeface="+mj-lt"/>
              <a:buAutoNum type="arabicPeriod" startAt="12"/>
            </a:pPr>
            <a:r>
              <a:rPr lang="en-US" dirty="0" smtClean="0">
                <a:solidFill>
                  <a:schemeClr val="tx1"/>
                </a:solidFill>
              </a:rPr>
              <a:t>Support Vector Machine</a:t>
            </a:r>
          </a:p>
          <a:p>
            <a:pPr marL="457200" indent="-457200">
              <a:buClrTx/>
              <a:buFont typeface="+mj-lt"/>
              <a:buAutoNum type="arabicPeriod" startAt="12"/>
            </a:pPr>
            <a:r>
              <a:rPr lang="en-US" dirty="0" smtClean="0">
                <a:solidFill>
                  <a:schemeClr val="tx1"/>
                </a:solidFill>
              </a:rPr>
              <a:t>Multinomial naïve </a:t>
            </a:r>
            <a:r>
              <a:rPr lang="en-US" dirty="0" err="1" smtClean="0">
                <a:solidFill>
                  <a:schemeClr val="tx1"/>
                </a:solidFill>
              </a:rPr>
              <a:t>bayes</a:t>
            </a:r>
            <a:r>
              <a:rPr lang="en-US" dirty="0" smtClean="0">
                <a:solidFill>
                  <a:schemeClr val="tx1"/>
                </a:solidFill>
              </a:rPr>
              <a:t> classifier</a:t>
            </a:r>
          </a:p>
          <a:p>
            <a:pPr marL="457200" indent="-457200">
              <a:buClrTx/>
              <a:buFont typeface="+mj-lt"/>
              <a:buAutoNum type="arabicPeriod" startAt="12"/>
            </a:pPr>
            <a:r>
              <a:rPr lang="en-US" dirty="0" smtClean="0">
                <a:solidFill>
                  <a:schemeClr val="tx1"/>
                </a:solidFill>
              </a:rPr>
              <a:t>Comparison of different models</a:t>
            </a:r>
          </a:p>
          <a:p>
            <a:pPr marL="457200" indent="-457200">
              <a:buClrTx/>
              <a:buFont typeface="+mj-lt"/>
              <a:buAutoNum type="arabicPeriod" startAt="12"/>
            </a:pPr>
            <a:r>
              <a:rPr lang="en-US" dirty="0" smtClean="0">
                <a:solidFill>
                  <a:schemeClr val="tx1"/>
                </a:solidFill>
              </a:rPr>
              <a:t>Insights from the comparison</a:t>
            </a:r>
          </a:p>
          <a:p>
            <a:pPr marL="457200" indent="-457200">
              <a:buClrTx/>
              <a:buFont typeface="+mj-lt"/>
              <a:buAutoNum type="arabicPeriod" startAt="12"/>
            </a:pPr>
            <a:r>
              <a:rPr lang="en-US" dirty="0" smtClean="0">
                <a:solidFill>
                  <a:schemeClr val="tx1"/>
                </a:solidFill>
              </a:rPr>
              <a:t>Grouping of Words</a:t>
            </a:r>
          </a:p>
          <a:p>
            <a:pPr marL="457200" indent="-457200">
              <a:buClrTx/>
              <a:buFont typeface="+mj-lt"/>
              <a:buAutoNum type="arabicPeriod" startAt="12"/>
            </a:pPr>
            <a:r>
              <a:rPr lang="en-US" dirty="0" smtClean="0">
                <a:solidFill>
                  <a:schemeClr val="tx1"/>
                </a:solidFill>
              </a:rPr>
              <a:t>Conclusion</a:t>
            </a:r>
          </a:p>
          <a:p>
            <a:pPr marL="457200" indent="-457200">
              <a:buClrTx/>
              <a:buFont typeface="+mj-lt"/>
              <a:buAutoNum type="arabicPeriod" startAt="12"/>
            </a:pPr>
            <a:r>
              <a:rPr lang="en-US" dirty="0" smtClean="0">
                <a:solidFill>
                  <a:schemeClr val="tx1"/>
                </a:solidFill>
              </a:rPr>
              <a:t>Future Scope</a:t>
            </a:r>
          </a:p>
          <a:p>
            <a:pPr marL="457200" indent="-457200">
              <a:buClrTx/>
              <a:buFont typeface="+mj-lt"/>
              <a:buAutoNum type="arabicPeriod" startAt="12"/>
            </a:pPr>
            <a:r>
              <a:rPr lang="en-US" dirty="0" smtClean="0">
                <a:solidFill>
                  <a:schemeClr val="tx1"/>
                </a:solidFill>
              </a:rPr>
              <a:t>References</a:t>
            </a:r>
            <a:endParaRPr lang="en-US" dirty="0">
              <a:solidFill>
                <a:schemeClr val="tx1"/>
              </a:solidFill>
            </a:endParaRPr>
          </a:p>
        </p:txBody>
      </p:sp>
    </p:spTree>
    <p:extLst>
      <p:ext uri="{BB962C8B-B14F-4D97-AF65-F5344CB8AC3E}">
        <p14:creationId xmlns:p14="http://schemas.microsoft.com/office/powerpoint/2010/main" val="191714609"/>
      </p:ext>
    </p:extLst>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9300A-07C1-4DBC-8FEE-55E9714586D8}"/>
              </a:ext>
            </a:extLst>
          </p:cNvPr>
          <p:cNvSpPr>
            <a:spLocks noGrp="1"/>
          </p:cNvSpPr>
          <p:nvPr>
            <p:ph type="title"/>
          </p:nvPr>
        </p:nvSpPr>
        <p:spPr/>
        <p:txBody>
          <a:bodyPr/>
          <a:lstStyle/>
          <a:p>
            <a:r>
              <a:rPr lang="en-US" dirty="0" smtClean="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2C33ED11-29B7-4744-AF03-843F7439A308}"/>
              </a:ext>
            </a:extLst>
          </p:cNvPr>
          <p:cNvSpPr>
            <a:spLocks noGrp="1"/>
          </p:cNvSpPr>
          <p:nvPr>
            <p:ph idx="1"/>
          </p:nvPr>
        </p:nvSpPr>
        <p:spPr/>
        <p:txBody>
          <a:bodyPr/>
          <a:lstStyle/>
          <a:p>
            <a:pPr>
              <a:buClrTx/>
              <a:buFont typeface="Wingdings" panose="05000000000000000000" pitchFamily="2" charset="2"/>
              <a:buChar char="Ø"/>
            </a:pPr>
            <a:r>
              <a:rPr lang="en-US" dirty="0">
                <a:solidFill>
                  <a:schemeClr val="tx1"/>
                </a:solidFill>
              </a:rPr>
              <a:t>Predicting the future stock trend with news sentiment classification based on the financial news articles.</a:t>
            </a:r>
          </a:p>
          <a:p>
            <a:pPr>
              <a:buClrTx/>
              <a:buFont typeface="Wingdings" panose="05000000000000000000" pitchFamily="2" charset="2"/>
              <a:buChar char="Ø"/>
            </a:pPr>
            <a:r>
              <a:rPr lang="en-US" dirty="0">
                <a:solidFill>
                  <a:schemeClr val="tx1"/>
                </a:solidFill>
              </a:rPr>
              <a:t>Due to the rapid changes or fluctuations of stock price depends on the gains and losses of certain companies. News articles are on of the most important factors which will influence the stock market.</a:t>
            </a:r>
          </a:p>
          <a:p>
            <a:pPr>
              <a:buClrTx/>
              <a:buFont typeface="Wingdings" panose="05000000000000000000" pitchFamily="2" charset="2"/>
              <a:buChar char="Ø"/>
            </a:pPr>
            <a:r>
              <a:rPr lang="en-US" dirty="0">
                <a:solidFill>
                  <a:schemeClr val="tx1"/>
                </a:solidFill>
              </a:rPr>
              <a:t>This project is about taking non quantifiable data such as financial news articles about a company and predicting its future stock trend with news sentiment classification. Assuming that news articles have impact on stock market, an attempt to study the relationship between news and stock trend will be carried out.</a:t>
            </a:r>
          </a:p>
        </p:txBody>
      </p:sp>
    </p:spTree>
    <p:extLst>
      <p:ext uri="{BB962C8B-B14F-4D97-AF65-F5344CB8AC3E}">
        <p14:creationId xmlns:p14="http://schemas.microsoft.com/office/powerpoint/2010/main" val="215795699"/>
      </p:ext>
    </p:extLst>
  </p:cSld>
  <p:clrMapOvr>
    <a:masterClrMapping/>
  </p:clrMapOvr>
  <p:transition spd="slow">
    <p:cov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CE625-E6B4-47D4-BF4E-91DE18E75D2B}"/>
              </a:ext>
            </a:extLst>
          </p:cNvPr>
          <p:cNvSpPr>
            <a:spLocks noGrp="1"/>
          </p:cNvSpPr>
          <p:nvPr>
            <p:ph type="title"/>
          </p:nvPr>
        </p:nvSpPr>
        <p:spPr/>
        <p:txBody>
          <a:bodyPr/>
          <a:lstStyle/>
          <a:p>
            <a:r>
              <a:rPr lang="en-US" dirty="0">
                <a:solidFill>
                  <a:schemeClr val="tx1"/>
                </a:solidFill>
              </a:rPr>
              <a:t>Objective</a:t>
            </a:r>
            <a:r>
              <a:rPr lang="en-US" dirty="0"/>
              <a:t>	</a:t>
            </a:r>
          </a:p>
        </p:txBody>
      </p:sp>
      <p:sp>
        <p:nvSpPr>
          <p:cNvPr id="3" name="Content Placeholder 2">
            <a:extLst>
              <a:ext uri="{FF2B5EF4-FFF2-40B4-BE49-F238E27FC236}">
                <a16:creationId xmlns:a16="http://schemas.microsoft.com/office/drawing/2014/main" id="{C4802110-6088-46AD-BF28-B883A8238457}"/>
              </a:ext>
            </a:extLst>
          </p:cNvPr>
          <p:cNvSpPr>
            <a:spLocks noGrp="1"/>
          </p:cNvSpPr>
          <p:nvPr>
            <p:ph idx="1"/>
          </p:nvPr>
        </p:nvSpPr>
        <p:spPr/>
        <p:txBody>
          <a:bodyPr/>
          <a:lstStyle/>
          <a:p>
            <a:pPr>
              <a:buClr>
                <a:schemeClr val="tx1"/>
              </a:buClr>
              <a:buFont typeface="Wingdings" panose="05000000000000000000" pitchFamily="2" charset="2"/>
              <a:buChar char="Ø"/>
            </a:pPr>
            <a:r>
              <a:rPr lang="en-US" dirty="0">
                <a:solidFill>
                  <a:schemeClr val="tx1"/>
                </a:solidFill>
              </a:rPr>
              <a:t>The main objective of this project is to enhance the current accuracy of the existing model.</a:t>
            </a:r>
          </a:p>
          <a:p>
            <a:pPr>
              <a:buClr>
                <a:schemeClr val="tx1"/>
              </a:buClr>
              <a:buFont typeface="Wingdings" panose="05000000000000000000" pitchFamily="2" charset="2"/>
              <a:buChar char="Ø"/>
            </a:pPr>
            <a:r>
              <a:rPr lang="en-US" dirty="0">
                <a:solidFill>
                  <a:schemeClr val="tx1"/>
                </a:solidFill>
              </a:rPr>
              <a:t>This can be done through better text-to-vector transformation i.e. bag of words.</a:t>
            </a:r>
          </a:p>
          <a:p>
            <a:pPr>
              <a:buClr>
                <a:schemeClr val="tx1"/>
              </a:buClr>
              <a:buFont typeface="Wingdings" panose="05000000000000000000" pitchFamily="2" charset="2"/>
              <a:buChar char="Ø"/>
            </a:pPr>
            <a:r>
              <a:rPr lang="en-US" dirty="0">
                <a:solidFill>
                  <a:schemeClr val="tx1"/>
                </a:solidFill>
              </a:rPr>
              <a:t>Thereafter performing 5-Cross validation or 10-Cross validation for testing the different models.</a:t>
            </a:r>
          </a:p>
          <a:p>
            <a:pPr>
              <a:buClr>
                <a:schemeClr val="tx1"/>
              </a:buClr>
              <a:buFont typeface="Wingdings" panose="05000000000000000000" pitchFamily="2" charset="2"/>
              <a:buChar char="Ø"/>
            </a:pPr>
            <a:r>
              <a:rPr lang="en-US" dirty="0">
                <a:solidFill>
                  <a:schemeClr val="tx1"/>
                </a:solidFill>
              </a:rPr>
              <a:t>The secondary objective is to decrease the training time of the Multinomial Naïve Bayes Theorem classifier.</a:t>
            </a:r>
          </a:p>
          <a:p>
            <a:pPr>
              <a:buClr>
                <a:schemeClr val="tx1"/>
              </a:buClr>
              <a:buFont typeface="Wingdings" panose="05000000000000000000" pitchFamily="2" charset="2"/>
              <a:buChar char="Ø"/>
            </a:pPr>
            <a:endParaRPr lang="en-US" dirty="0">
              <a:solidFill>
                <a:schemeClr val="tx1"/>
              </a:solidFill>
            </a:endParaRPr>
          </a:p>
        </p:txBody>
      </p:sp>
    </p:spTree>
    <p:extLst>
      <p:ext uri="{BB962C8B-B14F-4D97-AF65-F5344CB8AC3E}">
        <p14:creationId xmlns:p14="http://schemas.microsoft.com/office/powerpoint/2010/main" val="3587894679"/>
      </p:ext>
    </p:extLst>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02DA-0C7E-49B4-B5F2-EF7E4B3D851C}"/>
              </a:ext>
            </a:extLst>
          </p:cNvPr>
          <p:cNvSpPr>
            <a:spLocks noGrp="1"/>
          </p:cNvSpPr>
          <p:nvPr>
            <p:ph type="title"/>
          </p:nvPr>
        </p:nvSpPr>
        <p:spPr/>
        <p:txBody>
          <a:bodyPr/>
          <a:lstStyle/>
          <a:p>
            <a:r>
              <a:rPr lang="en-US" dirty="0">
                <a:solidFill>
                  <a:schemeClr val="tx1"/>
                </a:solidFill>
              </a:rPr>
              <a:t>Literature Review</a:t>
            </a:r>
          </a:p>
        </p:txBody>
      </p:sp>
      <p:sp>
        <p:nvSpPr>
          <p:cNvPr id="3" name="Content Placeholder 2">
            <a:extLst>
              <a:ext uri="{FF2B5EF4-FFF2-40B4-BE49-F238E27FC236}">
                <a16:creationId xmlns:a16="http://schemas.microsoft.com/office/drawing/2014/main" id="{C1D97C42-6DD9-4655-9AD9-54ED9D58937F}"/>
              </a:ext>
            </a:extLst>
          </p:cNvPr>
          <p:cNvSpPr>
            <a:spLocks noGrp="1"/>
          </p:cNvSpPr>
          <p:nvPr>
            <p:ph idx="1"/>
          </p:nvPr>
        </p:nvSpPr>
        <p:spPr/>
        <p:txBody>
          <a:bodyPr>
            <a:normAutofit/>
          </a:bodyPr>
          <a:lstStyle/>
          <a:p>
            <a:pPr>
              <a:buClrTx/>
              <a:buFont typeface="Wingdings" panose="05000000000000000000" pitchFamily="2" charset="2"/>
              <a:buChar char="Ø"/>
            </a:pP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Nagar and Hahsler in their research [1] presented an automated text mining-based approach to aggregate news stories from various sources and create a News Corpus. The Corpus is filtered down to relevant sentences and </a:t>
            </a: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analysed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using Natural Language Processing (NLP) techniques.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sentiment metric, called News Sentiment, utilizing the count of positive and negative polarity words is proposed as a measure of the sentiment of the overall news corpus.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They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have used various open-source packages and tools to develop the news collection and aggregation engine as well as the sentiment evaluation engine. They also state that the time variation of News Sentiment shows a very strong correlation with the actual stock price movement. </a:t>
            </a:r>
          </a:p>
          <a:p>
            <a:pPr>
              <a:buClrTx/>
              <a:buFont typeface="Wingdings" panose="05000000000000000000" pitchFamily="2" charset="2"/>
              <a:buChar char="Ø"/>
            </a:pP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Yu et al [2] present a text mining-based framework to determine the sentiment of news articles and illustrate its impact on energy demand. News sentiment is quantified and then presented as a time series and compared with fluctuations in energy demand and prices. </a:t>
            </a:r>
          </a:p>
        </p:txBody>
      </p:sp>
    </p:spTree>
    <p:extLst>
      <p:ext uri="{BB962C8B-B14F-4D97-AF65-F5344CB8AC3E}">
        <p14:creationId xmlns:p14="http://schemas.microsoft.com/office/powerpoint/2010/main" val="4094490472"/>
      </p:ext>
    </p:extLst>
  </p:cSld>
  <p:clrMapOvr>
    <a:masterClrMapping/>
  </p:clrMapOvr>
  <p:transition spd="slow">
    <p:cov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295DD-047A-47EB-8AE5-6D2471D1898E}"/>
              </a:ext>
            </a:extLst>
          </p:cNvPr>
          <p:cNvSpPr>
            <a:spLocks noGrp="1"/>
          </p:cNvSpPr>
          <p:nvPr>
            <p:ph type="title"/>
          </p:nvPr>
        </p:nvSpPr>
        <p:spPr/>
        <p:txBody>
          <a:bodyPr/>
          <a:lstStyle/>
          <a:p>
            <a:r>
              <a:rPr lang="en-US" dirty="0">
                <a:solidFill>
                  <a:schemeClr val="tx1"/>
                </a:solidFill>
              </a:rPr>
              <a:t>Continued</a:t>
            </a:r>
            <a:r>
              <a:rPr lang="en-US" dirty="0"/>
              <a:t>…</a:t>
            </a:r>
          </a:p>
        </p:txBody>
      </p:sp>
      <p:sp>
        <p:nvSpPr>
          <p:cNvPr id="3" name="Content Placeholder 2">
            <a:extLst>
              <a:ext uri="{FF2B5EF4-FFF2-40B4-BE49-F238E27FC236}">
                <a16:creationId xmlns:a16="http://schemas.microsoft.com/office/drawing/2014/main" id="{D16652F4-2BAC-4442-B3A0-507EDCD9DA57}"/>
              </a:ext>
            </a:extLst>
          </p:cNvPr>
          <p:cNvSpPr>
            <a:spLocks noGrp="1"/>
          </p:cNvSpPr>
          <p:nvPr>
            <p:ph idx="1"/>
          </p:nvPr>
        </p:nvSpPr>
        <p:spPr>
          <a:xfrm>
            <a:off x="1097280" y="2054413"/>
            <a:ext cx="10058400" cy="3760891"/>
          </a:xfrm>
        </p:spPr>
        <p:txBody>
          <a:bodyPr>
            <a:noAutofit/>
          </a:bodyPr>
          <a:lstStyle/>
          <a:p>
            <a:pPr>
              <a:buClrTx/>
              <a:buFont typeface="Wingdings" panose="05000000000000000000" pitchFamily="2" charset="2"/>
              <a:buChar char="Ø"/>
            </a:pP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J. Bean [3] uses keyword tagging on Twitter feeds about airlines satisfaction to score them for polarity and sentiment. This can provide a quick idea of the sentiment prevailing about airlines and their customer satisfaction ratings.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This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research paper [4] studies how the results of financial forecasting can be improved when news articles with different levels of relevance to the target stock are used simultaneously.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They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used multiple kernels learning technique for partitioning the information which is extracted from different five categories of news articles based on sectors, sub-sectors, industries, etc.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News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articles are divided into the five categories of relevance to a targeted stock, its sub-industry, industry, group industry, and sector while separate kernels are employed to </a:t>
            </a: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analyse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each one. </a:t>
            </a:r>
            <a:endPar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buClrTx/>
              <a:buFont typeface="Wingdings" panose="05000000000000000000" pitchFamily="2" charset="2"/>
              <a:buChar char="Ø"/>
            </a:pPr>
            <a:r>
              <a:rPr lang="en-IN" sz="16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The </a:t>
            </a:r>
            <a:r>
              <a:rPr lang="en-IN" sz="1600" dirty="0">
                <a:solidFill>
                  <a:schemeClr val="tx1"/>
                </a:solidFill>
                <a:effectLst/>
                <a:latin typeface="Arial" panose="020B0604020202020204" pitchFamily="34" charset="0"/>
                <a:ea typeface="Calibri" panose="020F0502020204030204" pitchFamily="34" charset="0"/>
                <a:cs typeface="Arial" panose="020B0604020202020204" pitchFamily="34" charset="0"/>
              </a:rPr>
              <a:t>experimental results show that the simultaneous usage of five news categories improves the prediction performance in comparison with methods based on a lower number of news categories. </a:t>
            </a:r>
            <a:endParaRPr lang="en-US" sz="1600" dirty="0">
              <a:solidFill>
                <a:schemeClr val="tx1"/>
              </a:solidFill>
              <a:latin typeface="Arial" panose="020B0604020202020204" pitchFamily="34" charset="0"/>
              <a:cs typeface="Arial" panose="020B0604020202020204" pitchFamily="34" charset="0"/>
            </a:endParaRPr>
          </a:p>
          <a:p>
            <a:pPr>
              <a:buClrTx/>
            </a:pP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4050139"/>
      </p:ext>
    </p:extLst>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Proposed Model</a:t>
            </a:r>
            <a:endParaRPr lang="en-IN" dirty="0">
              <a:solidFill>
                <a:schemeClr val="tx1"/>
              </a:solidFill>
            </a:endParaRP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362343587"/>
              </p:ext>
            </p:extLst>
          </p:nvPr>
        </p:nvGraphicFramePr>
        <p:xfrm>
          <a:off x="1096963" y="2108200"/>
          <a:ext cx="10058400" cy="3760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115977"/>
      </p:ext>
    </p:extLst>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Work Done</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a:buClrTx/>
              <a:buFont typeface="Wingdings" panose="05000000000000000000" pitchFamily="2" charset="2"/>
              <a:buChar char="Ø"/>
            </a:pPr>
            <a:r>
              <a:rPr lang="en-US" dirty="0">
                <a:solidFill>
                  <a:schemeClr val="tx1"/>
                </a:solidFill>
              </a:rPr>
              <a:t>EDA and Data Visualization</a:t>
            </a:r>
          </a:p>
          <a:p>
            <a:pPr>
              <a:buClrTx/>
              <a:buFont typeface="Wingdings" panose="05000000000000000000" pitchFamily="2" charset="2"/>
              <a:buChar char="Ø"/>
            </a:pPr>
            <a:r>
              <a:rPr lang="en-US" dirty="0">
                <a:solidFill>
                  <a:schemeClr val="tx1"/>
                </a:solidFill>
              </a:rPr>
              <a:t>Data Preprocessing</a:t>
            </a:r>
          </a:p>
          <a:p>
            <a:pPr>
              <a:buClrTx/>
              <a:buFont typeface="Wingdings" panose="05000000000000000000" pitchFamily="2" charset="2"/>
              <a:buChar char="Ø"/>
            </a:pPr>
            <a:r>
              <a:rPr lang="en-US" dirty="0">
                <a:solidFill>
                  <a:schemeClr val="tx1"/>
                </a:solidFill>
              </a:rPr>
              <a:t>Construction of Bag of </a:t>
            </a:r>
            <a:r>
              <a:rPr lang="en-US" dirty="0" smtClean="0">
                <a:solidFill>
                  <a:schemeClr val="tx1"/>
                </a:solidFill>
              </a:rPr>
              <a:t>words</a:t>
            </a:r>
            <a:endParaRPr lang="en-US" dirty="0">
              <a:solidFill>
                <a:schemeClr val="tx1"/>
              </a:solidFill>
            </a:endParaRPr>
          </a:p>
          <a:p>
            <a:pPr>
              <a:buClrTx/>
              <a:buFont typeface="Wingdings" panose="05000000000000000000" pitchFamily="2" charset="2"/>
              <a:buChar char="Ø"/>
            </a:pPr>
            <a:r>
              <a:rPr lang="en-US" dirty="0">
                <a:solidFill>
                  <a:schemeClr val="tx1"/>
                </a:solidFill>
              </a:rPr>
              <a:t>Implementation of </a:t>
            </a:r>
            <a:r>
              <a:rPr lang="en-US" dirty="0" smtClean="0">
                <a:solidFill>
                  <a:schemeClr val="tx1"/>
                </a:solidFill>
              </a:rPr>
              <a:t>Decision Tree Classifier</a:t>
            </a:r>
          </a:p>
          <a:p>
            <a:pPr>
              <a:buClrTx/>
              <a:buFont typeface="Wingdings" panose="05000000000000000000" pitchFamily="2" charset="2"/>
              <a:buChar char="Ø"/>
            </a:pPr>
            <a:r>
              <a:rPr lang="en-US" dirty="0">
                <a:solidFill>
                  <a:schemeClr val="tx1"/>
                </a:solidFill>
              </a:rPr>
              <a:t>Implementation of Random Forest Classifier</a:t>
            </a:r>
            <a:endParaRPr lang="en-US" dirty="0" smtClean="0">
              <a:solidFill>
                <a:schemeClr val="tx1"/>
              </a:solidFill>
            </a:endParaRPr>
          </a:p>
        </p:txBody>
      </p:sp>
    </p:spTree>
    <p:extLst>
      <p:ext uri="{BB962C8B-B14F-4D97-AF65-F5344CB8AC3E}">
        <p14:creationId xmlns:p14="http://schemas.microsoft.com/office/powerpoint/2010/main" val="4141084243"/>
      </p:ext>
    </p:extLst>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Continued…</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a:buClrTx/>
              <a:buFont typeface="Wingdings" panose="05000000000000000000" pitchFamily="2" charset="2"/>
              <a:buChar char="Ø"/>
            </a:pPr>
            <a:r>
              <a:rPr lang="en-US" sz="2000" dirty="0">
                <a:solidFill>
                  <a:schemeClr val="tx1"/>
                </a:solidFill>
              </a:rPr>
              <a:t>Implementation of Passive Aggressive Classifier</a:t>
            </a:r>
          </a:p>
          <a:p>
            <a:pPr>
              <a:buClrTx/>
              <a:buFont typeface="Wingdings" panose="05000000000000000000" pitchFamily="2" charset="2"/>
              <a:buChar char="Ø"/>
            </a:pPr>
            <a:r>
              <a:rPr lang="en-US" sz="2000" dirty="0" smtClean="0">
                <a:solidFill>
                  <a:schemeClr val="tx1"/>
                </a:solidFill>
              </a:rPr>
              <a:t>Implementation </a:t>
            </a:r>
            <a:r>
              <a:rPr lang="en-US" sz="2000" dirty="0">
                <a:solidFill>
                  <a:schemeClr val="tx1"/>
                </a:solidFill>
              </a:rPr>
              <a:t>of Support Vector </a:t>
            </a:r>
            <a:r>
              <a:rPr lang="en-US" sz="2000" dirty="0" smtClean="0">
                <a:solidFill>
                  <a:schemeClr val="tx1"/>
                </a:solidFill>
              </a:rPr>
              <a:t>Machine</a:t>
            </a:r>
          </a:p>
          <a:p>
            <a:pPr>
              <a:buClrTx/>
              <a:buFont typeface="Wingdings" panose="05000000000000000000" pitchFamily="2" charset="2"/>
              <a:buChar char="Ø"/>
            </a:pPr>
            <a:r>
              <a:rPr lang="en-US" sz="2000" dirty="0">
                <a:solidFill>
                  <a:schemeClr val="tx1"/>
                </a:solidFill>
              </a:rPr>
              <a:t>Implementation of Multinomial Naïve Bayes </a:t>
            </a:r>
            <a:r>
              <a:rPr lang="en-US" sz="2000" dirty="0" smtClean="0">
                <a:solidFill>
                  <a:schemeClr val="tx1"/>
                </a:solidFill>
              </a:rPr>
              <a:t>Classifier</a:t>
            </a:r>
          </a:p>
          <a:p>
            <a:pPr>
              <a:buClrTx/>
              <a:buFont typeface="Wingdings" panose="05000000000000000000" pitchFamily="2" charset="2"/>
              <a:buChar char="Ø"/>
            </a:pPr>
            <a:r>
              <a:rPr lang="en-US" sz="2000" dirty="0" smtClean="0">
                <a:solidFill>
                  <a:schemeClr val="tx1"/>
                </a:solidFill>
              </a:rPr>
              <a:t>Implementation of Modified Multinomial Naïve Bayes Classifier</a:t>
            </a:r>
          </a:p>
          <a:p>
            <a:pPr>
              <a:buClrTx/>
              <a:buFont typeface="Wingdings" panose="05000000000000000000" pitchFamily="2" charset="2"/>
              <a:buChar char="Ø"/>
            </a:pPr>
            <a:r>
              <a:rPr lang="en-US" sz="2000" dirty="0" smtClean="0">
                <a:solidFill>
                  <a:schemeClr val="tx1"/>
                </a:solidFill>
              </a:rPr>
              <a:t>Applying 5 cross validation and 10 cross validation for testing the model</a:t>
            </a:r>
            <a:endParaRPr lang="en-US" sz="2000" dirty="0">
              <a:solidFill>
                <a:schemeClr val="tx1"/>
              </a:solidFill>
            </a:endParaRPr>
          </a:p>
          <a:p>
            <a:pPr>
              <a:buClrTx/>
              <a:buFont typeface="Wingdings" panose="05000000000000000000" pitchFamily="2" charset="2"/>
              <a:buChar char="Ø"/>
            </a:pPr>
            <a:r>
              <a:rPr lang="en-US" sz="2000" dirty="0">
                <a:solidFill>
                  <a:schemeClr val="tx1"/>
                </a:solidFill>
              </a:rPr>
              <a:t>Comparing the models based on different </a:t>
            </a:r>
            <a:r>
              <a:rPr lang="en-US" sz="2000" dirty="0" smtClean="0">
                <a:solidFill>
                  <a:schemeClr val="tx1"/>
                </a:solidFill>
              </a:rPr>
              <a:t>parameters</a:t>
            </a:r>
            <a:endParaRPr lang="en-US" sz="2000" dirty="0">
              <a:solidFill>
                <a:schemeClr val="tx1"/>
              </a:solidFill>
            </a:endParaRPr>
          </a:p>
        </p:txBody>
      </p:sp>
    </p:spTree>
    <p:extLst>
      <p:ext uri="{BB962C8B-B14F-4D97-AF65-F5344CB8AC3E}">
        <p14:creationId xmlns:p14="http://schemas.microsoft.com/office/powerpoint/2010/main" val="1104497445"/>
      </p:ext>
    </p:extLst>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Dataset</a:t>
            </a:r>
            <a:r>
              <a:rPr lang="en-US" dirty="0" smtClean="0"/>
              <a:t> </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678" y="2255611"/>
            <a:ext cx="10531604" cy="3230789"/>
          </a:xfrm>
          <a:prstGeom prst="rect">
            <a:avLst/>
          </a:prstGeom>
        </p:spPr>
      </p:pic>
    </p:spTree>
    <p:extLst>
      <p:ext uri="{BB962C8B-B14F-4D97-AF65-F5344CB8AC3E}">
        <p14:creationId xmlns:p14="http://schemas.microsoft.com/office/powerpoint/2010/main" val="3394932626"/>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3DD86E-891F-443F-9483-15B10054621D}"/>
              </a:ext>
            </a:extLst>
          </p:cNvPr>
          <p:cNvSpPr>
            <a:spLocks noGrp="1"/>
          </p:cNvSpPr>
          <p:nvPr>
            <p:ph type="title"/>
          </p:nvPr>
        </p:nvSpPr>
        <p:spPr/>
        <p:txBody>
          <a:bodyPr/>
          <a:lstStyle/>
          <a:p>
            <a:r>
              <a:rPr lang="en-US" dirty="0">
                <a:solidFill>
                  <a:schemeClr val="tx1"/>
                </a:solidFill>
              </a:rPr>
              <a:t>Exploratory Data Analysis</a:t>
            </a:r>
          </a:p>
        </p:txBody>
      </p:sp>
      <p:sp>
        <p:nvSpPr>
          <p:cNvPr id="3" name="Content Placeholder 2">
            <a:extLst>
              <a:ext uri="{FF2B5EF4-FFF2-40B4-BE49-F238E27FC236}">
                <a16:creationId xmlns:a16="http://schemas.microsoft.com/office/drawing/2014/main" id="{748DC282-BCBC-4B3A-AB18-CC078BCB448B}"/>
              </a:ext>
            </a:extLst>
          </p:cNvPr>
          <p:cNvSpPr>
            <a:spLocks noGrp="1"/>
          </p:cNvSpPr>
          <p:nvPr>
            <p:ph idx="1"/>
          </p:nvPr>
        </p:nvSpPr>
        <p:spPr/>
        <p:txBody>
          <a:bodyPr/>
          <a:lstStyle/>
          <a:p>
            <a:pPr>
              <a:buClr>
                <a:schemeClr val="tx1"/>
              </a:buClr>
              <a:buFont typeface="Wingdings" panose="05000000000000000000" pitchFamily="2" charset="2"/>
              <a:buChar char="Ø"/>
            </a:pPr>
            <a:r>
              <a:rPr lang="en-US" dirty="0">
                <a:solidFill>
                  <a:schemeClr val="tx1"/>
                </a:solidFill>
              </a:rPr>
              <a:t>Visualizing the data.</a:t>
            </a:r>
          </a:p>
          <a:p>
            <a:pPr>
              <a:buClr>
                <a:schemeClr val="tx1"/>
              </a:buClr>
              <a:buFont typeface="Wingdings" panose="05000000000000000000" pitchFamily="2" charset="2"/>
              <a:buChar char="Ø"/>
            </a:pPr>
            <a:r>
              <a:rPr lang="en-US" dirty="0">
                <a:solidFill>
                  <a:schemeClr val="tx1"/>
                </a:solidFill>
              </a:rPr>
              <a:t>Label value count.</a:t>
            </a:r>
          </a:p>
          <a:p>
            <a:pPr>
              <a:buClr>
                <a:schemeClr val="tx1"/>
              </a:buClr>
              <a:buFont typeface="Wingdings" panose="05000000000000000000" pitchFamily="2" charset="2"/>
              <a:buChar char="Ø"/>
            </a:pPr>
            <a:r>
              <a:rPr lang="en-US" dirty="0">
                <a:solidFill>
                  <a:schemeClr val="tx1"/>
                </a:solidFill>
              </a:rPr>
              <a:t>Total number of data points.</a:t>
            </a:r>
          </a:p>
          <a:p>
            <a:pPr>
              <a:buClr>
                <a:schemeClr val="tx1"/>
              </a:buClr>
              <a:buFont typeface="Wingdings" panose="05000000000000000000" pitchFamily="2" charset="2"/>
              <a:buChar char="Ø"/>
            </a:pPr>
            <a:endParaRPr lang="en-US" dirty="0">
              <a:solidFill>
                <a:schemeClr val="tx1"/>
              </a:solidFill>
            </a:endParaRPr>
          </a:p>
          <a:p>
            <a:pPr>
              <a:buClr>
                <a:schemeClr val="tx1"/>
              </a:buClr>
              <a:buFont typeface="Wingdings" panose="05000000000000000000" pitchFamily="2" charset="2"/>
              <a:buChar char="Ø"/>
            </a:pPr>
            <a:endParaRPr lang="en-US" dirty="0">
              <a:solidFill>
                <a:schemeClr val="tx1"/>
              </a:solidFill>
            </a:endParaRPr>
          </a:p>
        </p:txBody>
      </p:sp>
    </p:spTree>
    <p:extLst>
      <p:ext uri="{BB962C8B-B14F-4D97-AF65-F5344CB8AC3E}">
        <p14:creationId xmlns:p14="http://schemas.microsoft.com/office/powerpoint/2010/main" val="3675022090"/>
      </p:ext>
    </p:extLst>
  </p:cSld>
  <p:clrMapOvr>
    <a:masterClrMapping/>
  </p:clrMapOvr>
  <p:transition spd="slow">
    <p:cov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C7F9D-E0B9-4009-A8E8-0053D502D18C}"/>
              </a:ext>
            </a:extLst>
          </p:cNvPr>
          <p:cNvSpPr>
            <a:spLocks noGrp="1"/>
          </p:cNvSpPr>
          <p:nvPr>
            <p:ph type="title"/>
          </p:nvPr>
        </p:nvSpPr>
        <p:spPr/>
        <p:txBody>
          <a:bodyPr/>
          <a:lstStyle/>
          <a:p>
            <a:r>
              <a:rPr lang="en-US" dirty="0">
                <a:solidFill>
                  <a:schemeClr val="tx1"/>
                </a:solidFill>
              </a:rPr>
              <a:t>Data Preprocessing</a:t>
            </a:r>
          </a:p>
        </p:txBody>
      </p:sp>
      <p:sp>
        <p:nvSpPr>
          <p:cNvPr id="4" name="Content Placeholder 3">
            <a:extLst>
              <a:ext uri="{FF2B5EF4-FFF2-40B4-BE49-F238E27FC236}">
                <a16:creationId xmlns:a16="http://schemas.microsoft.com/office/drawing/2014/main" id="{EFB076CF-070C-4C21-B933-947124994DF0}"/>
              </a:ext>
            </a:extLst>
          </p:cNvPr>
          <p:cNvSpPr>
            <a:spLocks noGrp="1"/>
          </p:cNvSpPr>
          <p:nvPr>
            <p:ph idx="1"/>
          </p:nvPr>
        </p:nvSpPr>
        <p:spPr/>
        <p:txBody>
          <a:bodyPr/>
          <a:lstStyle/>
          <a:p>
            <a:pPr>
              <a:buClrTx/>
              <a:buFont typeface="Wingdings" panose="05000000000000000000" pitchFamily="2" charset="2"/>
              <a:buChar char="Ø"/>
            </a:pPr>
            <a:r>
              <a:rPr lang="en-US" dirty="0">
                <a:solidFill>
                  <a:schemeClr val="tx1"/>
                </a:solidFill>
              </a:rPr>
              <a:t>Removing punctuations from the news headlines.</a:t>
            </a:r>
          </a:p>
          <a:p>
            <a:pPr>
              <a:buClrTx/>
              <a:buFont typeface="Wingdings" panose="05000000000000000000" pitchFamily="2" charset="2"/>
              <a:buChar char="Ø"/>
            </a:pPr>
            <a:r>
              <a:rPr lang="en-US" dirty="0">
                <a:solidFill>
                  <a:schemeClr val="tx1"/>
                </a:solidFill>
              </a:rPr>
              <a:t>Renaming column names for ease of access.</a:t>
            </a:r>
          </a:p>
          <a:p>
            <a:pPr>
              <a:buClrTx/>
              <a:buFont typeface="Wingdings" panose="05000000000000000000" pitchFamily="2" charset="2"/>
              <a:buChar char="Ø"/>
            </a:pPr>
            <a:r>
              <a:rPr lang="en-US" dirty="0">
                <a:solidFill>
                  <a:schemeClr val="tx1"/>
                </a:solidFill>
              </a:rPr>
              <a:t>Converting headlines to lowercase.</a:t>
            </a:r>
          </a:p>
          <a:p>
            <a:pPr>
              <a:buClrTx/>
              <a:buFont typeface="Wingdings" panose="05000000000000000000" pitchFamily="2" charset="2"/>
              <a:buChar char="Ø"/>
            </a:pPr>
            <a:r>
              <a:rPr lang="en-US" dirty="0">
                <a:solidFill>
                  <a:schemeClr val="tx1"/>
                </a:solidFill>
              </a:rPr>
              <a:t>Joining all the top 25 news headlines to a single sentence.</a:t>
            </a:r>
          </a:p>
          <a:p>
            <a:pPr>
              <a:buClrTx/>
              <a:buFont typeface="Wingdings" panose="05000000000000000000" pitchFamily="2" charset="2"/>
              <a:buChar char="Ø"/>
            </a:pPr>
            <a:r>
              <a:rPr lang="en-US" dirty="0">
                <a:solidFill>
                  <a:schemeClr val="tx1"/>
                </a:solidFill>
              </a:rPr>
              <a:t>Splitting the training and testing data.</a:t>
            </a:r>
          </a:p>
          <a:p>
            <a:pPr>
              <a:buClrTx/>
              <a:buFont typeface="Wingdings" panose="05000000000000000000" pitchFamily="2" charset="2"/>
              <a:buChar char="Ø"/>
            </a:pPr>
            <a:endParaRPr lang="en-US" dirty="0">
              <a:solidFill>
                <a:schemeClr val="tx1"/>
              </a:solidFill>
            </a:endParaRPr>
          </a:p>
        </p:txBody>
      </p:sp>
    </p:spTree>
    <p:extLst>
      <p:ext uri="{BB962C8B-B14F-4D97-AF65-F5344CB8AC3E}">
        <p14:creationId xmlns:p14="http://schemas.microsoft.com/office/powerpoint/2010/main" val="845257172"/>
      </p:ext>
    </p:extLst>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40E3E-358C-458C-B68A-C3D4DAE35C5B}"/>
              </a:ext>
            </a:extLst>
          </p:cNvPr>
          <p:cNvSpPr>
            <a:spLocks noGrp="1"/>
          </p:cNvSpPr>
          <p:nvPr>
            <p:ph type="title"/>
          </p:nvPr>
        </p:nvSpPr>
        <p:spPr/>
        <p:txBody>
          <a:bodyPr/>
          <a:lstStyle/>
          <a:p>
            <a:r>
              <a:rPr lang="en-US" dirty="0">
                <a:solidFill>
                  <a:schemeClr val="tx1"/>
                </a:solidFill>
              </a:rPr>
              <a:t>Bag of words</a:t>
            </a:r>
          </a:p>
        </p:txBody>
      </p:sp>
      <p:sp>
        <p:nvSpPr>
          <p:cNvPr id="3" name="Content Placeholder 2">
            <a:extLst>
              <a:ext uri="{FF2B5EF4-FFF2-40B4-BE49-F238E27FC236}">
                <a16:creationId xmlns:a16="http://schemas.microsoft.com/office/drawing/2014/main" id="{4A4CEA41-C553-4152-B1D0-6D2AF926F8EA}"/>
              </a:ext>
            </a:extLst>
          </p:cNvPr>
          <p:cNvSpPr>
            <a:spLocks noGrp="1"/>
          </p:cNvSpPr>
          <p:nvPr>
            <p:ph idx="1"/>
          </p:nvPr>
        </p:nvSpPr>
        <p:spPr/>
        <p:txBody>
          <a:bodyPr/>
          <a:lstStyle/>
          <a:p>
            <a:pPr marL="0" indent="0">
              <a:buNone/>
            </a:pPr>
            <a:r>
              <a:rPr lang="en-US" sz="3200" b="1" dirty="0">
                <a:solidFill>
                  <a:schemeClr val="tx1"/>
                </a:solidFill>
              </a:rPr>
              <a:t>Bag of words:</a:t>
            </a:r>
          </a:p>
          <a:p>
            <a:pPr marL="0" indent="0">
              <a:buNone/>
            </a:pPr>
            <a:r>
              <a:rPr lang="en-US" sz="1600" dirty="0">
                <a:solidFill>
                  <a:schemeClr val="tx1"/>
                </a:solidFill>
              </a:rPr>
              <a:t>Sent1 – Amazon is a good company</a:t>
            </a:r>
          </a:p>
          <a:p>
            <a:pPr marL="0" indent="0">
              <a:buNone/>
            </a:pPr>
            <a:r>
              <a:rPr lang="en-US" sz="1600" dirty="0">
                <a:solidFill>
                  <a:schemeClr val="tx1"/>
                </a:solidFill>
              </a:rPr>
              <a:t>Sent2 – Microsoft is better than Amazon</a:t>
            </a:r>
          </a:p>
          <a:p>
            <a:pPr marL="0" indent="0">
              <a:buNone/>
            </a:pPr>
            <a:r>
              <a:rPr lang="en-US" sz="1600" dirty="0">
                <a:solidFill>
                  <a:schemeClr val="tx1"/>
                </a:solidFill>
              </a:rPr>
              <a:t>Sent3 – Amazon and Microsoft are good company</a:t>
            </a:r>
          </a:p>
          <a:p>
            <a:endParaRPr lang="en-US" dirty="0">
              <a:solidFill>
                <a:schemeClr val="tx1"/>
              </a:solidFill>
            </a:endParaRPr>
          </a:p>
        </p:txBody>
      </p:sp>
      <p:graphicFrame>
        <p:nvGraphicFramePr>
          <p:cNvPr id="7" name="Table 7">
            <a:extLst>
              <a:ext uri="{FF2B5EF4-FFF2-40B4-BE49-F238E27FC236}">
                <a16:creationId xmlns:a16="http://schemas.microsoft.com/office/drawing/2014/main" id="{CE39B139-78A1-4EA0-940F-31187DFA802F}"/>
              </a:ext>
            </a:extLst>
          </p:cNvPr>
          <p:cNvGraphicFramePr>
            <a:graphicFrameLocks noGrp="1"/>
          </p:cNvGraphicFramePr>
          <p:nvPr>
            <p:extLst>
              <p:ext uri="{D42A27DB-BD31-4B8C-83A1-F6EECF244321}">
                <p14:modId xmlns:p14="http://schemas.microsoft.com/office/powerpoint/2010/main" val="2682239000"/>
              </p:ext>
            </p:extLst>
          </p:nvPr>
        </p:nvGraphicFramePr>
        <p:xfrm>
          <a:off x="5475045" y="4406052"/>
          <a:ext cx="6302189" cy="1463040"/>
        </p:xfrm>
        <a:graphic>
          <a:graphicData uri="http://schemas.openxmlformats.org/drawingml/2006/table">
            <a:tbl>
              <a:tblPr firstRow="1" bandRow="1">
                <a:tableStyleId>{5C22544A-7EE6-4342-B048-85BDC9FD1C3A}</a:tableStyleId>
              </a:tblPr>
              <a:tblGrid>
                <a:gridCol w="900555">
                  <a:extLst>
                    <a:ext uri="{9D8B030D-6E8A-4147-A177-3AD203B41FA5}">
                      <a16:colId xmlns:a16="http://schemas.microsoft.com/office/drawing/2014/main" val="2328213601"/>
                    </a:ext>
                  </a:extLst>
                </a:gridCol>
                <a:gridCol w="1340622">
                  <a:extLst>
                    <a:ext uri="{9D8B030D-6E8A-4147-A177-3AD203B41FA5}">
                      <a16:colId xmlns:a16="http://schemas.microsoft.com/office/drawing/2014/main" val="416399283"/>
                    </a:ext>
                  </a:extLst>
                </a:gridCol>
                <a:gridCol w="1111623">
                  <a:extLst>
                    <a:ext uri="{9D8B030D-6E8A-4147-A177-3AD203B41FA5}">
                      <a16:colId xmlns:a16="http://schemas.microsoft.com/office/drawing/2014/main" val="250661755"/>
                    </a:ext>
                  </a:extLst>
                </a:gridCol>
                <a:gridCol w="842683">
                  <a:extLst>
                    <a:ext uri="{9D8B030D-6E8A-4147-A177-3AD203B41FA5}">
                      <a16:colId xmlns:a16="http://schemas.microsoft.com/office/drawing/2014/main" val="2124811942"/>
                    </a:ext>
                  </a:extLst>
                </a:gridCol>
                <a:gridCol w="1183341">
                  <a:extLst>
                    <a:ext uri="{9D8B030D-6E8A-4147-A177-3AD203B41FA5}">
                      <a16:colId xmlns:a16="http://schemas.microsoft.com/office/drawing/2014/main" val="4262927192"/>
                    </a:ext>
                  </a:extLst>
                </a:gridCol>
                <a:gridCol w="923365">
                  <a:extLst>
                    <a:ext uri="{9D8B030D-6E8A-4147-A177-3AD203B41FA5}">
                      <a16:colId xmlns:a16="http://schemas.microsoft.com/office/drawing/2014/main" val="3602606316"/>
                    </a:ext>
                  </a:extLst>
                </a:gridCol>
              </a:tblGrid>
              <a:tr h="362689">
                <a:tc>
                  <a:txBody>
                    <a:bodyPr/>
                    <a:lstStyle/>
                    <a:p>
                      <a:pPr algn="ctr"/>
                      <a:endParaRPr lang="en-US" dirty="0"/>
                    </a:p>
                  </a:txBody>
                  <a:tcPr/>
                </a:tc>
                <a:tc>
                  <a:txBody>
                    <a:bodyPr/>
                    <a:lstStyle/>
                    <a:p>
                      <a:pPr algn="ctr"/>
                      <a:r>
                        <a:rPr lang="en-US" dirty="0"/>
                        <a:t>Amazon</a:t>
                      </a:r>
                    </a:p>
                  </a:txBody>
                  <a:tcPr/>
                </a:tc>
                <a:tc>
                  <a:txBody>
                    <a:bodyPr/>
                    <a:lstStyle/>
                    <a:p>
                      <a:pPr algn="ctr"/>
                      <a:r>
                        <a:rPr lang="en-US" dirty="0"/>
                        <a:t>Microsoft</a:t>
                      </a:r>
                    </a:p>
                  </a:txBody>
                  <a:tcPr/>
                </a:tc>
                <a:tc>
                  <a:txBody>
                    <a:bodyPr/>
                    <a:lstStyle/>
                    <a:p>
                      <a:pPr algn="ctr"/>
                      <a:r>
                        <a:rPr lang="en-US" dirty="0"/>
                        <a:t>Good </a:t>
                      </a:r>
                    </a:p>
                  </a:txBody>
                  <a:tcPr/>
                </a:tc>
                <a:tc>
                  <a:txBody>
                    <a:bodyPr/>
                    <a:lstStyle/>
                    <a:p>
                      <a:pPr algn="ctr"/>
                      <a:r>
                        <a:rPr lang="en-US" dirty="0"/>
                        <a:t>Company</a:t>
                      </a:r>
                    </a:p>
                  </a:txBody>
                  <a:tcPr/>
                </a:tc>
                <a:tc>
                  <a:txBody>
                    <a:bodyPr/>
                    <a:lstStyle/>
                    <a:p>
                      <a:pPr algn="ctr"/>
                      <a:r>
                        <a:rPr lang="en-US" dirty="0"/>
                        <a:t>Better </a:t>
                      </a:r>
                    </a:p>
                  </a:txBody>
                  <a:tcPr/>
                </a:tc>
                <a:extLst>
                  <a:ext uri="{0D108BD9-81ED-4DB2-BD59-A6C34878D82A}">
                    <a16:rowId xmlns:a16="http://schemas.microsoft.com/office/drawing/2014/main" val="3995867343"/>
                  </a:ext>
                </a:extLst>
              </a:tr>
              <a:tr h="362689">
                <a:tc>
                  <a:txBody>
                    <a:bodyPr/>
                    <a:lstStyle/>
                    <a:p>
                      <a:r>
                        <a:rPr lang="en-US" dirty="0"/>
                        <a:t>Sent1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575647195"/>
                  </a:ext>
                </a:extLst>
              </a:tr>
              <a:tr h="362689">
                <a:tc>
                  <a:txBody>
                    <a:bodyPr/>
                    <a:lstStyle/>
                    <a:p>
                      <a:r>
                        <a:rPr lang="en-US" dirty="0"/>
                        <a:t>Sent2</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41651456"/>
                  </a:ext>
                </a:extLst>
              </a:tr>
              <a:tr h="362689">
                <a:tc>
                  <a:txBody>
                    <a:bodyPr/>
                    <a:lstStyle/>
                    <a:p>
                      <a:r>
                        <a:rPr lang="en-US" dirty="0"/>
                        <a:t>Sent3</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503107511"/>
                  </a:ext>
                </a:extLst>
              </a:tr>
            </a:tbl>
          </a:graphicData>
        </a:graphic>
      </p:graphicFrame>
      <p:graphicFrame>
        <p:nvGraphicFramePr>
          <p:cNvPr id="8" name="Table 8">
            <a:extLst>
              <a:ext uri="{FF2B5EF4-FFF2-40B4-BE49-F238E27FC236}">
                <a16:creationId xmlns:a16="http://schemas.microsoft.com/office/drawing/2014/main" id="{AA2BFA46-EB30-4F12-B2B7-099BF45783A6}"/>
              </a:ext>
            </a:extLst>
          </p:cNvPr>
          <p:cNvGraphicFramePr>
            <a:graphicFrameLocks noGrp="1"/>
          </p:cNvGraphicFramePr>
          <p:nvPr>
            <p:extLst>
              <p:ext uri="{D42A27DB-BD31-4B8C-83A1-F6EECF244321}">
                <p14:modId xmlns:p14="http://schemas.microsoft.com/office/powerpoint/2010/main" val="3759725175"/>
              </p:ext>
            </p:extLst>
          </p:nvPr>
        </p:nvGraphicFramePr>
        <p:xfrm>
          <a:off x="1097277" y="4098494"/>
          <a:ext cx="3878136" cy="2194560"/>
        </p:xfrm>
        <a:graphic>
          <a:graphicData uri="http://schemas.openxmlformats.org/drawingml/2006/table">
            <a:tbl>
              <a:tblPr firstRow="1" bandRow="1">
                <a:tableStyleId>{5C22544A-7EE6-4342-B048-85BDC9FD1C3A}</a:tableStyleId>
              </a:tblPr>
              <a:tblGrid>
                <a:gridCol w="1939068">
                  <a:extLst>
                    <a:ext uri="{9D8B030D-6E8A-4147-A177-3AD203B41FA5}">
                      <a16:colId xmlns:a16="http://schemas.microsoft.com/office/drawing/2014/main" val="3313955901"/>
                    </a:ext>
                  </a:extLst>
                </a:gridCol>
                <a:gridCol w="1939068">
                  <a:extLst>
                    <a:ext uri="{9D8B030D-6E8A-4147-A177-3AD203B41FA5}">
                      <a16:colId xmlns:a16="http://schemas.microsoft.com/office/drawing/2014/main" val="1987929367"/>
                    </a:ext>
                  </a:extLst>
                </a:gridCol>
              </a:tblGrid>
              <a:tr h="317423">
                <a:tc>
                  <a:txBody>
                    <a:bodyPr/>
                    <a:lstStyle/>
                    <a:p>
                      <a:pPr algn="ctr"/>
                      <a:r>
                        <a:rPr lang="en-US" dirty="0"/>
                        <a:t>Word</a:t>
                      </a:r>
                    </a:p>
                  </a:txBody>
                  <a:tcPr/>
                </a:tc>
                <a:tc>
                  <a:txBody>
                    <a:bodyPr/>
                    <a:lstStyle/>
                    <a:p>
                      <a:pPr algn="ctr"/>
                      <a:r>
                        <a:rPr lang="en-US" dirty="0"/>
                        <a:t>Frequency</a:t>
                      </a:r>
                    </a:p>
                  </a:txBody>
                  <a:tcPr/>
                </a:tc>
                <a:extLst>
                  <a:ext uri="{0D108BD9-81ED-4DB2-BD59-A6C34878D82A}">
                    <a16:rowId xmlns:a16="http://schemas.microsoft.com/office/drawing/2014/main" val="2498739333"/>
                  </a:ext>
                </a:extLst>
              </a:tr>
              <a:tr h="317423">
                <a:tc>
                  <a:txBody>
                    <a:bodyPr/>
                    <a:lstStyle/>
                    <a:p>
                      <a:r>
                        <a:rPr lang="en-US" dirty="0"/>
                        <a:t>Amazon</a:t>
                      </a:r>
                    </a:p>
                  </a:txBody>
                  <a:tcPr/>
                </a:tc>
                <a:tc>
                  <a:txBody>
                    <a:bodyPr/>
                    <a:lstStyle/>
                    <a:p>
                      <a:r>
                        <a:rPr lang="en-US" dirty="0"/>
                        <a:t>3</a:t>
                      </a:r>
                    </a:p>
                  </a:txBody>
                  <a:tcPr/>
                </a:tc>
                <a:extLst>
                  <a:ext uri="{0D108BD9-81ED-4DB2-BD59-A6C34878D82A}">
                    <a16:rowId xmlns:a16="http://schemas.microsoft.com/office/drawing/2014/main" val="3460334591"/>
                  </a:ext>
                </a:extLst>
              </a:tr>
              <a:tr h="317423">
                <a:tc>
                  <a:txBody>
                    <a:bodyPr/>
                    <a:lstStyle/>
                    <a:p>
                      <a:r>
                        <a:rPr lang="en-US" dirty="0"/>
                        <a:t>Microsoft</a:t>
                      </a:r>
                    </a:p>
                  </a:txBody>
                  <a:tcPr/>
                </a:tc>
                <a:tc>
                  <a:txBody>
                    <a:bodyPr/>
                    <a:lstStyle/>
                    <a:p>
                      <a:r>
                        <a:rPr lang="en-US" dirty="0"/>
                        <a:t>2</a:t>
                      </a:r>
                    </a:p>
                  </a:txBody>
                  <a:tcPr/>
                </a:tc>
                <a:extLst>
                  <a:ext uri="{0D108BD9-81ED-4DB2-BD59-A6C34878D82A}">
                    <a16:rowId xmlns:a16="http://schemas.microsoft.com/office/drawing/2014/main" val="1563087327"/>
                  </a:ext>
                </a:extLst>
              </a:tr>
              <a:tr h="317423">
                <a:tc>
                  <a:txBody>
                    <a:bodyPr/>
                    <a:lstStyle/>
                    <a:p>
                      <a:r>
                        <a:rPr lang="en-US" dirty="0"/>
                        <a:t>Good</a:t>
                      </a:r>
                    </a:p>
                  </a:txBody>
                  <a:tcPr/>
                </a:tc>
                <a:tc>
                  <a:txBody>
                    <a:bodyPr/>
                    <a:lstStyle/>
                    <a:p>
                      <a:r>
                        <a:rPr lang="en-US" dirty="0"/>
                        <a:t>2</a:t>
                      </a:r>
                    </a:p>
                  </a:txBody>
                  <a:tcPr/>
                </a:tc>
                <a:extLst>
                  <a:ext uri="{0D108BD9-81ED-4DB2-BD59-A6C34878D82A}">
                    <a16:rowId xmlns:a16="http://schemas.microsoft.com/office/drawing/2014/main" val="458021148"/>
                  </a:ext>
                </a:extLst>
              </a:tr>
              <a:tr h="317423">
                <a:tc>
                  <a:txBody>
                    <a:bodyPr/>
                    <a:lstStyle/>
                    <a:p>
                      <a:r>
                        <a:rPr lang="en-US" dirty="0"/>
                        <a:t>Company</a:t>
                      </a:r>
                    </a:p>
                  </a:txBody>
                  <a:tcPr/>
                </a:tc>
                <a:tc>
                  <a:txBody>
                    <a:bodyPr/>
                    <a:lstStyle/>
                    <a:p>
                      <a:r>
                        <a:rPr lang="en-US" dirty="0"/>
                        <a:t>2</a:t>
                      </a:r>
                    </a:p>
                  </a:txBody>
                  <a:tcPr/>
                </a:tc>
                <a:extLst>
                  <a:ext uri="{0D108BD9-81ED-4DB2-BD59-A6C34878D82A}">
                    <a16:rowId xmlns:a16="http://schemas.microsoft.com/office/drawing/2014/main" val="1444762961"/>
                  </a:ext>
                </a:extLst>
              </a:tr>
              <a:tr h="317423">
                <a:tc>
                  <a:txBody>
                    <a:bodyPr/>
                    <a:lstStyle/>
                    <a:p>
                      <a:r>
                        <a:rPr lang="en-US" dirty="0"/>
                        <a:t>Better</a:t>
                      </a:r>
                    </a:p>
                  </a:txBody>
                  <a:tcPr/>
                </a:tc>
                <a:tc>
                  <a:txBody>
                    <a:bodyPr/>
                    <a:lstStyle/>
                    <a:p>
                      <a:r>
                        <a:rPr lang="en-US" dirty="0"/>
                        <a:t>1</a:t>
                      </a:r>
                    </a:p>
                  </a:txBody>
                  <a:tcPr/>
                </a:tc>
                <a:extLst>
                  <a:ext uri="{0D108BD9-81ED-4DB2-BD59-A6C34878D82A}">
                    <a16:rowId xmlns:a16="http://schemas.microsoft.com/office/drawing/2014/main" val="3669922253"/>
                  </a:ext>
                </a:extLst>
              </a:tr>
            </a:tbl>
          </a:graphicData>
        </a:graphic>
      </p:graphicFrame>
      <p:graphicFrame>
        <p:nvGraphicFramePr>
          <p:cNvPr id="9" name="Table 9">
            <a:extLst>
              <a:ext uri="{FF2B5EF4-FFF2-40B4-BE49-F238E27FC236}">
                <a16:creationId xmlns:a16="http://schemas.microsoft.com/office/drawing/2014/main" id="{D0B22525-085B-49DB-B523-823E3DED4DA6}"/>
              </a:ext>
            </a:extLst>
          </p:cNvPr>
          <p:cNvGraphicFramePr>
            <a:graphicFrameLocks noGrp="1"/>
          </p:cNvGraphicFramePr>
          <p:nvPr>
            <p:extLst>
              <p:ext uri="{D42A27DB-BD31-4B8C-83A1-F6EECF244321}">
                <p14:modId xmlns:p14="http://schemas.microsoft.com/office/powerpoint/2010/main" val="1040353632"/>
              </p:ext>
            </p:extLst>
          </p:nvPr>
        </p:nvGraphicFramePr>
        <p:xfrm>
          <a:off x="5475045" y="2285699"/>
          <a:ext cx="5793590" cy="1605623"/>
        </p:xfrm>
        <a:graphic>
          <a:graphicData uri="http://schemas.openxmlformats.org/drawingml/2006/table">
            <a:tbl>
              <a:tblPr firstRow="1" bandRow="1">
                <a:tableStyleId>{5C22544A-7EE6-4342-B048-85BDC9FD1C3A}</a:tableStyleId>
              </a:tblPr>
              <a:tblGrid>
                <a:gridCol w="995680">
                  <a:extLst>
                    <a:ext uri="{9D8B030D-6E8A-4147-A177-3AD203B41FA5}">
                      <a16:colId xmlns:a16="http://schemas.microsoft.com/office/drawing/2014/main" val="262544086"/>
                    </a:ext>
                  </a:extLst>
                </a:gridCol>
                <a:gridCol w="1191708">
                  <a:extLst>
                    <a:ext uri="{9D8B030D-6E8A-4147-A177-3AD203B41FA5}">
                      <a16:colId xmlns:a16="http://schemas.microsoft.com/office/drawing/2014/main" val="1382715829"/>
                    </a:ext>
                  </a:extLst>
                </a:gridCol>
                <a:gridCol w="1138518">
                  <a:extLst>
                    <a:ext uri="{9D8B030D-6E8A-4147-A177-3AD203B41FA5}">
                      <a16:colId xmlns:a16="http://schemas.microsoft.com/office/drawing/2014/main" val="332119981"/>
                    </a:ext>
                  </a:extLst>
                </a:gridCol>
                <a:gridCol w="1129553">
                  <a:extLst>
                    <a:ext uri="{9D8B030D-6E8A-4147-A177-3AD203B41FA5}">
                      <a16:colId xmlns:a16="http://schemas.microsoft.com/office/drawing/2014/main" val="516006596"/>
                    </a:ext>
                  </a:extLst>
                </a:gridCol>
                <a:gridCol w="1338131">
                  <a:extLst>
                    <a:ext uri="{9D8B030D-6E8A-4147-A177-3AD203B41FA5}">
                      <a16:colId xmlns:a16="http://schemas.microsoft.com/office/drawing/2014/main" val="3286635660"/>
                    </a:ext>
                  </a:extLst>
                </a:gridCol>
              </a:tblGrid>
              <a:tr h="468307">
                <a:tc>
                  <a:txBody>
                    <a:bodyPr/>
                    <a:lstStyle/>
                    <a:p>
                      <a:r>
                        <a:rPr lang="en-US" dirty="0"/>
                        <a:t>Sent1</a:t>
                      </a:r>
                    </a:p>
                  </a:txBody>
                  <a:tcPr/>
                </a:tc>
                <a:tc>
                  <a:txBody>
                    <a:bodyPr/>
                    <a:lstStyle/>
                    <a:p>
                      <a:r>
                        <a:rPr lang="en-US" dirty="0"/>
                        <a:t>Amazon</a:t>
                      </a:r>
                    </a:p>
                  </a:txBody>
                  <a:tcPr/>
                </a:tc>
                <a:tc>
                  <a:txBody>
                    <a:bodyPr/>
                    <a:lstStyle/>
                    <a:p>
                      <a:r>
                        <a:rPr lang="en-US" dirty="0"/>
                        <a:t>Good </a:t>
                      </a:r>
                    </a:p>
                  </a:txBody>
                  <a:tcPr/>
                </a:tc>
                <a:tc>
                  <a:txBody>
                    <a:bodyPr/>
                    <a:lstStyle/>
                    <a:p>
                      <a:r>
                        <a:rPr lang="en-US" dirty="0"/>
                        <a:t>Company</a:t>
                      </a:r>
                    </a:p>
                  </a:txBody>
                  <a:tcPr/>
                </a:tc>
                <a:tc>
                  <a:txBody>
                    <a:bodyPr/>
                    <a:lstStyle/>
                    <a:p>
                      <a:endParaRPr lang="en-US" dirty="0"/>
                    </a:p>
                  </a:txBody>
                  <a:tcPr/>
                </a:tc>
                <a:extLst>
                  <a:ext uri="{0D108BD9-81ED-4DB2-BD59-A6C34878D82A}">
                    <a16:rowId xmlns:a16="http://schemas.microsoft.com/office/drawing/2014/main" val="2637512185"/>
                  </a:ext>
                </a:extLst>
              </a:tr>
              <a:tr h="468307">
                <a:tc>
                  <a:txBody>
                    <a:bodyPr/>
                    <a:lstStyle/>
                    <a:p>
                      <a:r>
                        <a:rPr lang="en-US" dirty="0"/>
                        <a:t>Sent2</a:t>
                      </a:r>
                    </a:p>
                  </a:txBody>
                  <a:tcPr/>
                </a:tc>
                <a:tc>
                  <a:txBody>
                    <a:bodyPr/>
                    <a:lstStyle/>
                    <a:p>
                      <a:r>
                        <a:rPr lang="en-US" dirty="0"/>
                        <a:t>Microsoft </a:t>
                      </a:r>
                    </a:p>
                  </a:txBody>
                  <a:tcPr/>
                </a:tc>
                <a:tc>
                  <a:txBody>
                    <a:bodyPr/>
                    <a:lstStyle/>
                    <a:p>
                      <a:r>
                        <a:rPr lang="en-US" dirty="0"/>
                        <a:t>Better</a:t>
                      </a:r>
                    </a:p>
                  </a:txBody>
                  <a:tcPr/>
                </a:tc>
                <a:tc>
                  <a:txBody>
                    <a:bodyPr/>
                    <a:lstStyle/>
                    <a:p>
                      <a:r>
                        <a:rPr lang="en-US" dirty="0"/>
                        <a:t>Amazon</a:t>
                      </a:r>
                    </a:p>
                  </a:txBody>
                  <a:tcPr/>
                </a:tc>
                <a:tc>
                  <a:txBody>
                    <a:bodyPr/>
                    <a:lstStyle/>
                    <a:p>
                      <a:endParaRPr lang="en-US" dirty="0"/>
                    </a:p>
                  </a:txBody>
                  <a:tcPr/>
                </a:tc>
                <a:extLst>
                  <a:ext uri="{0D108BD9-81ED-4DB2-BD59-A6C34878D82A}">
                    <a16:rowId xmlns:a16="http://schemas.microsoft.com/office/drawing/2014/main" val="3887606768"/>
                  </a:ext>
                </a:extLst>
              </a:tr>
              <a:tr h="669009">
                <a:tc>
                  <a:txBody>
                    <a:bodyPr/>
                    <a:lstStyle/>
                    <a:p>
                      <a:r>
                        <a:rPr lang="en-US" dirty="0"/>
                        <a:t>Sent3</a:t>
                      </a:r>
                    </a:p>
                  </a:txBody>
                  <a:tcPr/>
                </a:tc>
                <a:tc>
                  <a:txBody>
                    <a:bodyPr/>
                    <a:lstStyle/>
                    <a:p>
                      <a:r>
                        <a:rPr lang="en-US" dirty="0"/>
                        <a:t>Amazon</a:t>
                      </a:r>
                    </a:p>
                  </a:txBody>
                  <a:tcPr/>
                </a:tc>
                <a:tc>
                  <a:txBody>
                    <a:bodyPr/>
                    <a:lstStyle/>
                    <a:p>
                      <a:r>
                        <a:rPr lang="en-US" dirty="0"/>
                        <a:t>Microsoft</a:t>
                      </a:r>
                    </a:p>
                  </a:txBody>
                  <a:tcPr/>
                </a:tc>
                <a:tc>
                  <a:txBody>
                    <a:bodyPr/>
                    <a:lstStyle/>
                    <a:p>
                      <a:r>
                        <a:rPr lang="en-US" dirty="0"/>
                        <a:t>Good</a:t>
                      </a:r>
                    </a:p>
                  </a:txBody>
                  <a:tcPr/>
                </a:tc>
                <a:tc>
                  <a:txBody>
                    <a:bodyPr/>
                    <a:lstStyle/>
                    <a:p>
                      <a:r>
                        <a:rPr lang="en-US" dirty="0"/>
                        <a:t>Company</a:t>
                      </a:r>
                    </a:p>
                  </a:txBody>
                  <a:tcPr/>
                </a:tc>
                <a:extLst>
                  <a:ext uri="{0D108BD9-81ED-4DB2-BD59-A6C34878D82A}">
                    <a16:rowId xmlns:a16="http://schemas.microsoft.com/office/drawing/2014/main" val="3210525090"/>
                  </a:ext>
                </a:extLst>
              </a:tr>
            </a:tbl>
          </a:graphicData>
        </a:graphic>
      </p:graphicFrame>
    </p:spTree>
    <p:extLst>
      <p:ext uri="{BB962C8B-B14F-4D97-AF65-F5344CB8AC3E}">
        <p14:creationId xmlns:p14="http://schemas.microsoft.com/office/powerpoint/2010/main" val="3510180870"/>
      </p:ext>
    </p:extLst>
  </p:cSld>
  <p:clrMapOvr>
    <a:masterClrMapping/>
  </p:clrMapOvr>
  <p:transition spd="slow">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smtClean="0">
                <a:solidFill>
                  <a:schemeClr val="tx1"/>
                </a:solidFill>
              </a:rPr>
              <a:t>Decision Tree Classifier</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normAutofit lnSpcReduction="10000"/>
          </a:bodyPr>
          <a:lstStyle/>
          <a:p>
            <a:pPr>
              <a:buClrTx/>
              <a:buFont typeface="Wingdings" panose="05000000000000000000" pitchFamily="2" charset="2"/>
              <a:buChar char="Ø"/>
            </a:pPr>
            <a:r>
              <a:rPr lang="en-US" dirty="0">
                <a:solidFill>
                  <a:schemeClr val="tx1"/>
                </a:solidFill>
              </a:rPr>
              <a:t>Decision Tree is a Supervised learning technique that can be used for both classification and Regression problems, but mostly it is preferred for solving Classification problems. It is a tree-structured classifier, where internal nodes represent the features of a dataset, branches represent the decision rules and each leaf node represents the outcome.</a:t>
            </a:r>
          </a:p>
          <a:p>
            <a:pPr>
              <a:buClrTx/>
              <a:buFont typeface="Wingdings" panose="05000000000000000000" pitchFamily="2" charset="2"/>
              <a:buChar char="Ø"/>
            </a:pPr>
            <a:r>
              <a:rPr lang="en-US" dirty="0">
                <a:solidFill>
                  <a:schemeClr val="tx1"/>
                </a:solidFill>
              </a:rPr>
              <a:t>In a Decision tree, there are two nodes, which are the Decision Node and Leaf Node. Decision nodes are used to make any decision and have multiple branches, whereas Leaf nodes are the output of those decisions and do not contain any further branches.</a:t>
            </a:r>
          </a:p>
          <a:p>
            <a:pPr>
              <a:buClrTx/>
              <a:buFont typeface="Wingdings" panose="05000000000000000000" pitchFamily="2" charset="2"/>
              <a:buChar char="Ø"/>
            </a:pPr>
            <a:r>
              <a:rPr lang="en-US" dirty="0">
                <a:solidFill>
                  <a:schemeClr val="tx1"/>
                </a:solidFill>
              </a:rPr>
              <a:t>The decisions or the test are performed on the basis of features of the given dataset.</a:t>
            </a:r>
          </a:p>
          <a:p>
            <a:pPr>
              <a:buClrTx/>
              <a:buFont typeface="Wingdings" panose="05000000000000000000" pitchFamily="2" charset="2"/>
              <a:buChar char="Ø"/>
            </a:pPr>
            <a:r>
              <a:rPr lang="en-US" dirty="0">
                <a:solidFill>
                  <a:schemeClr val="tx1"/>
                </a:solidFill>
              </a:rPr>
              <a:t>It is a graphical representation for getting all the possible solutions to a problem/decision based on given conditions.</a:t>
            </a:r>
          </a:p>
        </p:txBody>
      </p:sp>
    </p:spTree>
    <p:extLst>
      <p:ext uri="{BB962C8B-B14F-4D97-AF65-F5344CB8AC3E}">
        <p14:creationId xmlns:p14="http://schemas.microsoft.com/office/powerpoint/2010/main" val="1245235816"/>
      </p:ext>
    </p:extLst>
  </p:cSld>
  <p:clrMapOvr>
    <a:masterClrMapping/>
  </p:clrMapOvr>
  <p:transition spd="slow">
    <p:cov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smtClean="0">
                <a:solidFill>
                  <a:schemeClr val="tx1"/>
                </a:solidFill>
              </a:rPr>
              <a:t>Continued…</a:t>
            </a:r>
            <a:endParaRPr lang="en-IN"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6708" y="2037804"/>
            <a:ext cx="6139544" cy="4093029"/>
          </a:xfrm>
          <a:prstGeom prst="rect">
            <a:avLst/>
          </a:prstGeom>
        </p:spPr>
      </p:pic>
    </p:spTree>
    <p:extLst>
      <p:ext uri="{BB962C8B-B14F-4D97-AF65-F5344CB8AC3E}">
        <p14:creationId xmlns:p14="http://schemas.microsoft.com/office/powerpoint/2010/main" val="2598019076"/>
      </p:ext>
    </p:extLst>
  </p:cSld>
  <p:clrMapOvr>
    <a:masterClrMapping/>
  </p:clrMapOvr>
  <p:transition spd="slow">
    <p:cov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69186"/>
            <a:ext cx="10058400" cy="1450757"/>
          </a:xfrm>
        </p:spPr>
        <p:txBody>
          <a:bodyPr/>
          <a:lstStyle/>
          <a:p>
            <a:r>
              <a:rPr lang="en-US" dirty="0">
                <a:solidFill>
                  <a:schemeClr val="tx1"/>
                </a:solidFill>
              </a:rPr>
              <a:t>Random</a:t>
            </a:r>
            <a:r>
              <a:rPr lang="en-US" dirty="0"/>
              <a:t> </a:t>
            </a:r>
            <a:r>
              <a:rPr lang="en-US" dirty="0" smtClean="0">
                <a:solidFill>
                  <a:schemeClr val="tx1"/>
                </a:solidFill>
              </a:rPr>
              <a:t>Forest Classifier</a:t>
            </a:r>
            <a:endParaRPr lang="en-US" dirty="0">
              <a:solidFill>
                <a:schemeClr val="tx1"/>
              </a:solidFill>
            </a:endParaRPr>
          </a:p>
        </p:txBody>
      </p:sp>
      <p:sp>
        <p:nvSpPr>
          <p:cNvPr id="5" name="Content Placeholder 2"/>
          <p:cNvSpPr txBox="1">
            <a:spLocks/>
          </p:cNvSpPr>
          <p:nvPr/>
        </p:nvSpPr>
        <p:spPr>
          <a:xfrm>
            <a:off x="1097280" y="2108201"/>
            <a:ext cx="10058400"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Tx/>
              <a:buFont typeface="Wingdings" panose="05000000000000000000" pitchFamily="2" charset="2"/>
              <a:buChar char="Ø"/>
            </a:pPr>
            <a:r>
              <a:rPr lang="en-US" dirty="0" smtClean="0">
                <a:solidFill>
                  <a:schemeClr val="tx1"/>
                </a:solidFill>
                <a:latin typeface="inter-regular"/>
              </a:rPr>
              <a:t>Random Forest is a popular machine learning algorithm that belongs to the supervised learning technique. It can be used for both Classification and Regression problems in ML.</a:t>
            </a:r>
          </a:p>
          <a:p>
            <a:pPr>
              <a:buClrTx/>
              <a:buFont typeface="Wingdings" panose="05000000000000000000" pitchFamily="2" charset="2"/>
              <a:buChar char="Ø"/>
            </a:pPr>
            <a:r>
              <a:rPr lang="en-US" b="1" i="1" dirty="0" smtClean="0">
                <a:solidFill>
                  <a:schemeClr val="tx1"/>
                </a:solidFill>
                <a:latin typeface="inter-bold"/>
              </a:rPr>
              <a:t>Random Forest is a classifier that contains a number of decision trees on various subsets of the given dataset and takes the average to improve the predictive accuracy of that dataset.</a:t>
            </a:r>
            <a:endParaRPr lang="en-US" dirty="0" smtClean="0">
              <a:solidFill>
                <a:schemeClr val="tx1"/>
              </a:solidFill>
              <a:latin typeface="inter-regular"/>
            </a:endParaRPr>
          </a:p>
          <a:p>
            <a:pPr>
              <a:buClrTx/>
              <a:buFont typeface="Wingdings" panose="05000000000000000000" pitchFamily="2" charset="2"/>
              <a:buChar char="Ø"/>
            </a:pPr>
            <a:r>
              <a:rPr lang="en-US" dirty="0" smtClean="0">
                <a:solidFill>
                  <a:schemeClr val="tx1"/>
                </a:solidFill>
                <a:latin typeface="inter-regular"/>
              </a:rPr>
              <a:t>Instead of relying on one decision tree, the random forest takes the prediction from each tree and based on the majority votes of predictions, and it predicts the final output.</a:t>
            </a:r>
            <a:endParaRPr lang="en-US" dirty="0">
              <a:solidFill>
                <a:schemeClr val="tx1"/>
              </a:solidFill>
            </a:endParaRPr>
          </a:p>
        </p:txBody>
      </p:sp>
    </p:spTree>
    <p:extLst>
      <p:ext uri="{BB962C8B-B14F-4D97-AF65-F5344CB8AC3E}">
        <p14:creationId xmlns:p14="http://schemas.microsoft.com/office/powerpoint/2010/main" val="1561525811"/>
      </p:ext>
    </p:extLst>
  </p:cSld>
  <p:clrMapOvr>
    <a:masterClrMapping/>
  </p:clrMapOvr>
  <p:transition spd="slow">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Continued…</a:t>
            </a:r>
            <a:endParaRPr lang="en-IN"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121" y="1950719"/>
            <a:ext cx="9579428" cy="4396015"/>
          </a:xfrm>
          <a:prstGeom prst="rect">
            <a:avLst/>
          </a:prstGeom>
        </p:spPr>
      </p:pic>
    </p:spTree>
    <p:extLst>
      <p:ext uri="{BB962C8B-B14F-4D97-AF65-F5344CB8AC3E}">
        <p14:creationId xmlns:p14="http://schemas.microsoft.com/office/powerpoint/2010/main" val="1476365929"/>
      </p:ext>
    </p:extLst>
  </p:cSld>
  <p:clrMapOvr>
    <a:masterClrMapping/>
  </p:clrMapOvr>
  <p:transition spd="slow">
    <p:cov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smtClean="0">
                <a:solidFill>
                  <a:schemeClr val="tx1"/>
                </a:solidFill>
              </a:rPr>
              <a:t>Passive Aggressive Classifier</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a:buClrTx/>
              <a:buFont typeface="Wingdings" panose="05000000000000000000" pitchFamily="2" charset="2"/>
              <a:buChar char="Ø"/>
            </a:pPr>
            <a:r>
              <a:rPr lang="en-US" dirty="0">
                <a:solidFill>
                  <a:schemeClr val="tx1"/>
                </a:solidFill>
              </a:rPr>
              <a:t>Passive-Aggressive algorithms are generally used for large-scale learning. It is one of the few ‘</a:t>
            </a:r>
            <a:r>
              <a:rPr lang="en-US" b="1" dirty="0">
                <a:solidFill>
                  <a:schemeClr val="tx1"/>
                </a:solidFill>
              </a:rPr>
              <a:t>online-learning algorithms</a:t>
            </a:r>
            <a:r>
              <a:rPr lang="en-US" dirty="0">
                <a:solidFill>
                  <a:schemeClr val="tx1"/>
                </a:solidFill>
              </a:rPr>
              <a:t>‘. In online machine learning algorithms, the input data comes in sequential order and the machine learning model is updated step-by-step, as opposed to batch learning, where the entire training dataset is used at once. </a:t>
            </a:r>
            <a:endParaRPr lang="en-US" dirty="0" smtClean="0">
              <a:solidFill>
                <a:schemeClr val="tx1"/>
              </a:solidFill>
            </a:endParaRPr>
          </a:p>
          <a:p>
            <a:pPr>
              <a:buClrTx/>
              <a:buFont typeface="Wingdings" panose="05000000000000000000" pitchFamily="2" charset="2"/>
              <a:buChar char="Ø"/>
            </a:pPr>
            <a:r>
              <a:rPr lang="en-US" dirty="0" smtClean="0">
                <a:solidFill>
                  <a:schemeClr val="tx1"/>
                </a:solidFill>
              </a:rPr>
              <a:t>This </a:t>
            </a:r>
            <a:r>
              <a:rPr lang="en-US" dirty="0">
                <a:solidFill>
                  <a:schemeClr val="tx1"/>
                </a:solidFill>
              </a:rPr>
              <a:t>is very useful in situations where there is a huge amount of data and it is computationally infeasible to train the entire dataset because of the sheer size of the data. We can simply say that an online-learning algorithm will get a training example, update the classifier, and then throw away the example.</a:t>
            </a:r>
            <a:endParaRPr lang="en-IN" dirty="0">
              <a:solidFill>
                <a:schemeClr val="tx1"/>
              </a:solidFill>
            </a:endParaRPr>
          </a:p>
        </p:txBody>
      </p:sp>
    </p:spTree>
    <p:extLst>
      <p:ext uri="{BB962C8B-B14F-4D97-AF65-F5344CB8AC3E}">
        <p14:creationId xmlns:p14="http://schemas.microsoft.com/office/powerpoint/2010/main" val="3683639900"/>
      </p:ext>
    </p:extLst>
  </p:cSld>
  <p:clrMapOvr>
    <a:masterClrMapping/>
  </p:clrMapOvr>
  <p:transition spd="slow">
    <p:cov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a:solidFill>
                  <a:schemeClr val="tx1"/>
                </a:solidFill>
              </a:rPr>
              <a:t>How </a:t>
            </a:r>
            <a:r>
              <a:rPr lang="en-US" dirty="0" smtClean="0">
                <a:solidFill>
                  <a:schemeClr val="tx1"/>
                </a:solidFill>
              </a:rPr>
              <a:t>Passive-Aggressive Works:</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marL="0" indent="0" fontAlgn="base">
              <a:buNone/>
            </a:pPr>
            <a:r>
              <a:rPr lang="en-US" dirty="0">
                <a:solidFill>
                  <a:schemeClr val="tx1"/>
                </a:solidFill>
              </a:rPr>
              <a:t> </a:t>
            </a:r>
            <a:r>
              <a:rPr lang="en-US" dirty="0" smtClean="0">
                <a:solidFill>
                  <a:schemeClr val="tx1"/>
                </a:solidFill>
              </a:rPr>
              <a:t> Passive-Aggressive </a:t>
            </a:r>
            <a:r>
              <a:rPr lang="en-US" dirty="0">
                <a:solidFill>
                  <a:schemeClr val="tx1"/>
                </a:solidFill>
              </a:rPr>
              <a:t>algorithms are called so because :</a:t>
            </a:r>
          </a:p>
          <a:p>
            <a:pPr fontAlgn="base"/>
            <a:r>
              <a:rPr lang="en-US" sz="2400" b="1" dirty="0" smtClean="0">
                <a:solidFill>
                  <a:schemeClr val="tx1"/>
                </a:solidFill>
              </a:rPr>
              <a:t>Passive :</a:t>
            </a:r>
          </a:p>
          <a:p>
            <a:pPr fontAlgn="base"/>
            <a:r>
              <a:rPr lang="en-US" dirty="0" smtClean="0">
                <a:solidFill>
                  <a:schemeClr val="tx1"/>
                </a:solidFill>
              </a:rPr>
              <a:t>If </a:t>
            </a:r>
            <a:r>
              <a:rPr lang="en-US" dirty="0">
                <a:solidFill>
                  <a:schemeClr val="tx1"/>
                </a:solidFill>
              </a:rPr>
              <a:t>the prediction is correct, keep the model and do not make any changes. i.e., the data in the example is not enough to cause any changes in the model. </a:t>
            </a:r>
          </a:p>
          <a:p>
            <a:pPr fontAlgn="base"/>
            <a:r>
              <a:rPr lang="en-US" sz="2400" b="1" dirty="0" smtClean="0">
                <a:solidFill>
                  <a:schemeClr val="tx1"/>
                </a:solidFill>
              </a:rPr>
              <a:t>Aggressive :</a:t>
            </a:r>
            <a:r>
              <a:rPr lang="en-US" sz="2400" b="1" dirty="0">
                <a:solidFill>
                  <a:schemeClr val="tx1"/>
                </a:solidFill>
              </a:rPr>
              <a:t> </a:t>
            </a:r>
            <a:endParaRPr lang="en-US" sz="2400" b="1" dirty="0" smtClean="0">
              <a:solidFill>
                <a:schemeClr val="tx1"/>
              </a:solidFill>
            </a:endParaRPr>
          </a:p>
          <a:p>
            <a:pPr fontAlgn="base"/>
            <a:r>
              <a:rPr lang="en-US" dirty="0" smtClean="0">
                <a:solidFill>
                  <a:schemeClr val="tx1"/>
                </a:solidFill>
              </a:rPr>
              <a:t>If </a:t>
            </a:r>
            <a:r>
              <a:rPr lang="en-US" dirty="0">
                <a:solidFill>
                  <a:schemeClr val="tx1"/>
                </a:solidFill>
              </a:rPr>
              <a:t>the prediction is incorrect, make changes to the model. i.e., some change to the model </a:t>
            </a:r>
            <a:r>
              <a:rPr lang="en-US" dirty="0" smtClean="0">
                <a:solidFill>
                  <a:schemeClr val="tx1"/>
                </a:solidFill>
              </a:rPr>
              <a:t>may correct </a:t>
            </a:r>
            <a:r>
              <a:rPr lang="en-US" dirty="0">
                <a:solidFill>
                  <a:schemeClr val="tx1"/>
                </a:solidFill>
              </a:rPr>
              <a:t>it.</a:t>
            </a:r>
          </a:p>
        </p:txBody>
      </p:sp>
    </p:spTree>
    <p:extLst>
      <p:ext uri="{BB962C8B-B14F-4D97-AF65-F5344CB8AC3E}">
        <p14:creationId xmlns:p14="http://schemas.microsoft.com/office/powerpoint/2010/main" val="4010692680"/>
      </p:ext>
    </p:extLst>
  </p:cSld>
  <p:clrMapOvr>
    <a:masterClrMapping/>
  </p:clrMapOvr>
  <p:transition spd="slow">
    <p:cov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smtClean="0">
                <a:solidFill>
                  <a:schemeClr val="tx1"/>
                </a:solidFill>
              </a:rPr>
              <a:t>Support Vector Machine</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a:buClrTx/>
              <a:buFont typeface="Wingdings" panose="05000000000000000000" pitchFamily="2" charset="2"/>
              <a:buChar char="Ø"/>
            </a:pPr>
            <a:r>
              <a:rPr lang="en-US" dirty="0">
                <a:solidFill>
                  <a:schemeClr val="tx1"/>
                </a:solidFill>
              </a:rPr>
              <a:t>Support Vector Machine or SVM is one of the most popular Supervised Learning algorithms, which is used for Classification as well as Regression problems. However, primarily, it is used for Classification problems in Machine Learning.</a:t>
            </a:r>
          </a:p>
          <a:p>
            <a:pPr>
              <a:buClrTx/>
              <a:buFont typeface="Wingdings" panose="05000000000000000000" pitchFamily="2" charset="2"/>
              <a:buChar char="Ø"/>
            </a:pPr>
            <a:r>
              <a:rPr lang="en-US" dirty="0">
                <a:solidFill>
                  <a:schemeClr val="tx1"/>
                </a:solidFill>
              </a:rPr>
              <a:t>The goal of the SVM algorithm is to create the best line or decision boundary that can segregate n-dimensional space into classes so that we can easily put the new data point in the correct category in the future. This best decision boundary is called a hyperplane.</a:t>
            </a:r>
          </a:p>
          <a:p>
            <a:pPr>
              <a:buClrTx/>
              <a:buFont typeface="Wingdings" panose="05000000000000000000" pitchFamily="2" charset="2"/>
              <a:buChar char="Ø"/>
            </a:pPr>
            <a:r>
              <a:rPr lang="en-US" dirty="0">
                <a:solidFill>
                  <a:schemeClr val="tx1"/>
                </a:solidFill>
              </a:rPr>
              <a:t>SVM chooses the extreme points/vectors that help in creating the hyperplane. These extreme cases are called as support vectors, and hence algorithm is termed as Support Vector Machine. Consider the below diagram in which there are two different categories that are classified using a decision boundary or hyperplane:</a:t>
            </a:r>
          </a:p>
          <a:p>
            <a:endParaRPr lang="en-IN" dirty="0">
              <a:solidFill>
                <a:schemeClr val="tx1"/>
              </a:solidFill>
            </a:endParaRPr>
          </a:p>
        </p:txBody>
      </p:sp>
    </p:spTree>
    <p:extLst>
      <p:ext uri="{BB962C8B-B14F-4D97-AF65-F5344CB8AC3E}">
        <p14:creationId xmlns:p14="http://schemas.microsoft.com/office/powerpoint/2010/main" val="909166465"/>
      </p:ext>
    </p:extLst>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US" dirty="0" smtClean="0">
                <a:solidFill>
                  <a:schemeClr val="tx1"/>
                </a:solidFill>
              </a:rPr>
              <a:t>Continued…</a:t>
            </a:r>
            <a:endParaRPr lang="en-IN"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624" y="2002972"/>
            <a:ext cx="6399711" cy="4266474"/>
          </a:xfrm>
          <a:prstGeom prst="rect">
            <a:avLst/>
          </a:prstGeom>
        </p:spPr>
      </p:pic>
    </p:spTree>
    <p:extLst>
      <p:ext uri="{BB962C8B-B14F-4D97-AF65-F5344CB8AC3E}">
        <p14:creationId xmlns:p14="http://schemas.microsoft.com/office/powerpoint/2010/main" val="298597565"/>
      </p:ext>
    </p:extLst>
  </p:cSld>
  <p:clrMapOvr>
    <a:masterClrMapping/>
  </p:clrMapOvr>
  <p:transition spd="slow">
    <p:cov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77153" y="286603"/>
            <a:ext cx="10264588" cy="1450757"/>
          </a:xfrm>
        </p:spPr>
        <p:txBody>
          <a:bodyPr/>
          <a:lstStyle/>
          <a:p>
            <a:r>
              <a:rPr lang="en-US" dirty="0">
                <a:solidFill>
                  <a:schemeClr val="tx1"/>
                </a:solidFill>
              </a:rPr>
              <a:t>Multinomial Naïve Bayes Classifier</a:t>
            </a:r>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097280" y="2108201"/>
                <a:ext cx="10058400" cy="3760891"/>
              </a:xfrm>
              <a:prstGeom prst="rect">
                <a:avLst/>
              </a:prstGeom>
            </p:spPr>
            <p:txBody>
              <a:bodyPr>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Tx/>
                  <a:buFont typeface="Wingdings" panose="05000000000000000000" pitchFamily="2" charset="2"/>
                  <a:buChar char="Ø"/>
                </a:pPr>
                <a:r>
                  <a:rPr lang="en-US" sz="1600" dirty="0" smtClean="0">
                    <a:solidFill>
                      <a:schemeClr val="tx1"/>
                    </a:solidFill>
                    <a:latin typeface="Arial" panose="020B0604020202020204" pitchFamily="34" charset="0"/>
                    <a:cs typeface="Arial" panose="020B0604020202020204" pitchFamily="34" charset="0"/>
                  </a:rPr>
                  <a:t> The Multinomial Naïve Bayes classifier is suitable for classification with discrete feature (e.g., word count         for text classification). The  multinomial distribution normally requires integer feature counts.</a:t>
                </a:r>
              </a:p>
              <a:p>
                <a:pPr>
                  <a:buClrTx/>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 This classifier is relatively faster than other classifiers. (Training time for Random forest is 99 seconds whereas training the same with Multinomial Naïve Bayes takes just 1second)</a:t>
                </a:r>
              </a:p>
              <a:p>
                <a:pPr>
                  <a:buClrTx/>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Very good in domain with many equally important features. (Decision Trees suffer from fragmentation in such case – especially if data is little.)</a:t>
                </a:r>
              </a:p>
              <a:p>
                <a:pPr>
                  <a:buClrTx/>
                  <a:buFont typeface="Wingdings" panose="05000000000000000000" pitchFamily="2" charset="2"/>
                  <a:buChar char="Ø"/>
                </a:pPr>
                <a:r>
                  <a:rPr lang="en-US" sz="1600" dirty="0">
                    <a:solidFill>
                      <a:schemeClr val="tx1"/>
                    </a:solidFill>
                    <a:latin typeface="Arial" panose="020B0604020202020204" pitchFamily="34" charset="0"/>
                    <a:cs typeface="Arial" panose="020B0604020202020204" pitchFamily="34" charset="0"/>
                  </a:rPr>
                  <a:t>It is a good dependable baseline for text classification</a:t>
                </a:r>
                <a:r>
                  <a:rPr lang="en-US" sz="1600" dirty="0" smtClean="0">
                    <a:solidFill>
                      <a:schemeClr val="tx1"/>
                    </a:solidFill>
                    <a:latin typeface="Arial" panose="020B0604020202020204" pitchFamily="34" charset="0"/>
                    <a:cs typeface="Arial" panose="020B0604020202020204" pitchFamily="34" charset="0"/>
                  </a:rPr>
                  <a:t>.</a:t>
                </a:r>
              </a:p>
              <a:p>
                <a:pPr>
                  <a:buClrTx/>
                  <a:buFont typeface="Wingdings" panose="05000000000000000000" pitchFamily="2" charset="2"/>
                  <a:buChar char="Ø"/>
                </a:pPr>
                <a:r>
                  <a:rPr lang="en-US" sz="1600" dirty="0" smtClean="0">
                    <a:solidFill>
                      <a:schemeClr val="tx1"/>
                    </a:solidFill>
                    <a:latin typeface="Arial" panose="020B0604020202020204" pitchFamily="34" charset="0"/>
                    <a:cs typeface="Arial" panose="020B0604020202020204" pitchFamily="34" charset="0"/>
                  </a:rPr>
                  <a:t>Its based on Bayes Theorem.</a:t>
                </a:r>
              </a:p>
              <a:p>
                <a:pPr lvl="7">
                  <a:buClrTx/>
                  <a:buFont typeface="Wingdings" panose="05000000000000000000" pitchFamily="2" charset="2"/>
                  <a:buChar char="Ø"/>
                </a:pPr>
                <a14:m>
                  <m:oMath xmlns:m="http://schemas.openxmlformats.org/officeDocument/2006/math">
                    <m:r>
                      <a:rPr lang="en-US" sz="1800" i="1" smtClean="0">
                        <a:solidFill>
                          <a:schemeClr val="tx1"/>
                        </a:solidFill>
                        <a:latin typeface="Cambria Math" panose="02040503050406030204" pitchFamily="18" charset="0"/>
                        <a:cs typeface="Arial" panose="020B0604020202020204" pitchFamily="34" charset="0"/>
                      </a:rPr>
                      <m:t>𝑃</m:t>
                    </m:r>
                    <m:r>
                      <a:rPr lang="en-US" sz="1800" i="1" smtClean="0">
                        <a:solidFill>
                          <a:schemeClr val="tx1"/>
                        </a:solidFill>
                        <a:latin typeface="Cambria Math" panose="02040503050406030204" pitchFamily="18" charset="0"/>
                        <a:cs typeface="Arial" panose="020B0604020202020204" pitchFamily="34" charset="0"/>
                      </a:rPr>
                      <m:t>(</m:t>
                    </m:r>
                    <m:r>
                      <a:rPr lang="en-US" sz="1800" i="1" smtClean="0">
                        <a:solidFill>
                          <a:schemeClr val="tx1"/>
                        </a:solidFill>
                        <a:latin typeface="Cambria Math" panose="02040503050406030204" pitchFamily="18" charset="0"/>
                        <a:cs typeface="Arial" panose="020B0604020202020204" pitchFamily="34" charset="0"/>
                      </a:rPr>
                      <m:t>𝐴</m:t>
                    </m:r>
                    <m:r>
                      <a:rPr lang="en-US" sz="1800" i="1" smtClean="0">
                        <a:solidFill>
                          <a:schemeClr val="tx1"/>
                        </a:solidFill>
                        <a:latin typeface="Cambria Math" panose="02040503050406030204" pitchFamily="18" charset="0"/>
                        <a:cs typeface="Arial" panose="020B0604020202020204" pitchFamily="34" charset="0"/>
                      </a:rPr>
                      <m:t>/</m:t>
                    </m:r>
                    <m:r>
                      <a:rPr lang="en-US" sz="1800" i="1" smtClean="0">
                        <a:solidFill>
                          <a:schemeClr val="tx1"/>
                        </a:solidFill>
                        <a:latin typeface="Cambria Math" panose="02040503050406030204" pitchFamily="18" charset="0"/>
                        <a:cs typeface="Arial" panose="020B0604020202020204" pitchFamily="34" charset="0"/>
                      </a:rPr>
                      <m:t>𝐵</m:t>
                    </m:r>
                    <m:r>
                      <a:rPr lang="en-US" sz="1800" i="1" smtClean="0">
                        <a:solidFill>
                          <a:schemeClr val="tx1"/>
                        </a:solidFill>
                        <a:latin typeface="Cambria Math" panose="02040503050406030204" pitchFamily="18" charset="0"/>
                        <a:cs typeface="Arial" panose="020B0604020202020204" pitchFamily="34" charset="0"/>
                      </a:rPr>
                      <m:t>)= </m:t>
                    </m:r>
                    <m:f>
                      <m:fPr>
                        <m:ctrlPr>
                          <a:rPr lang="en-US" sz="1800" i="1" smtClean="0">
                            <a:solidFill>
                              <a:schemeClr val="tx1"/>
                            </a:solidFill>
                            <a:latin typeface="Cambria Math" panose="02040503050406030204" pitchFamily="18" charset="0"/>
                            <a:cs typeface="Arial" panose="020B0604020202020204" pitchFamily="34" charset="0"/>
                          </a:rPr>
                        </m:ctrlPr>
                      </m:fPr>
                      <m:num>
                        <m:r>
                          <a:rPr lang="en-US" sz="1800" i="1">
                            <a:solidFill>
                              <a:schemeClr val="tx1"/>
                            </a:solidFill>
                            <a:latin typeface="Cambria Math" panose="02040503050406030204" pitchFamily="18" charset="0"/>
                            <a:cs typeface="Arial" panose="020B0604020202020204" pitchFamily="34" charset="0"/>
                          </a:rPr>
                          <m:t>𝑃</m:t>
                        </m:r>
                        <m:r>
                          <a:rPr lang="en-US" sz="1800" i="1">
                            <a:solidFill>
                              <a:schemeClr val="tx1"/>
                            </a:solidFill>
                            <a:latin typeface="Cambria Math" panose="02040503050406030204" pitchFamily="18" charset="0"/>
                            <a:cs typeface="Arial" panose="020B0604020202020204" pitchFamily="34" charset="0"/>
                          </a:rPr>
                          <m:t>(</m:t>
                        </m:r>
                        <m:r>
                          <a:rPr lang="en-US" sz="1800" i="1">
                            <a:solidFill>
                              <a:schemeClr val="tx1"/>
                            </a:solidFill>
                            <a:latin typeface="Cambria Math" panose="02040503050406030204" pitchFamily="18" charset="0"/>
                            <a:cs typeface="Arial" panose="020B0604020202020204" pitchFamily="34" charset="0"/>
                          </a:rPr>
                          <m:t>𝐵</m:t>
                        </m:r>
                        <m:r>
                          <a:rPr lang="en-US" sz="1800" i="1" smtClean="0">
                            <a:solidFill>
                              <a:schemeClr val="tx1"/>
                            </a:solidFill>
                            <a:latin typeface="Cambria Math" panose="02040503050406030204" pitchFamily="18" charset="0"/>
                            <a:cs typeface="Arial" panose="020B0604020202020204" pitchFamily="34" charset="0"/>
                          </a:rPr>
                          <m:t>/</m:t>
                        </m:r>
                        <m:r>
                          <a:rPr lang="en-US" sz="1800" i="1" smtClean="0">
                            <a:solidFill>
                              <a:schemeClr val="tx1"/>
                            </a:solidFill>
                            <a:latin typeface="Cambria Math" panose="02040503050406030204" pitchFamily="18" charset="0"/>
                            <a:cs typeface="Arial" panose="020B0604020202020204" pitchFamily="34" charset="0"/>
                          </a:rPr>
                          <m:t>𝐴</m:t>
                        </m:r>
                        <m:r>
                          <a:rPr lang="en-US" sz="1800" i="1">
                            <a:solidFill>
                              <a:schemeClr val="tx1"/>
                            </a:solidFill>
                            <a:latin typeface="Cambria Math" panose="02040503050406030204" pitchFamily="18" charset="0"/>
                            <a:cs typeface="Arial" panose="020B0604020202020204" pitchFamily="34" charset="0"/>
                          </a:rPr>
                          <m:t>)</m:t>
                        </m:r>
                        <m:r>
                          <a:rPr lang="en-US" sz="1800" i="1">
                            <a:solidFill>
                              <a:schemeClr val="tx1"/>
                            </a:solidFill>
                            <a:latin typeface="Cambria Math" panose="02040503050406030204" pitchFamily="18" charset="0"/>
                            <a:cs typeface="Arial" panose="020B0604020202020204" pitchFamily="34" charset="0"/>
                          </a:rPr>
                          <m:t>𝑃</m:t>
                        </m:r>
                        <m:d>
                          <m:dPr>
                            <m:ctrlPr>
                              <a:rPr lang="en-US" sz="1800" i="1">
                                <a:solidFill>
                                  <a:schemeClr val="tx1"/>
                                </a:solidFill>
                                <a:latin typeface="Cambria Math" panose="02040503050406030204" pitchFamily="18" charset="0"/>
                                <a:cs typeface="Arial" panose="020B0604020202020204" pitchFamily="34" charset="0"/>
                              </a:rPr>
                            </m:ctrlPr>
                          </m:dPr>
                          <m:e>
                            <m:r>
                              <a:rPr lang="en-US" sz="1800" i="1">
                                <a:solidFill>
                                  <a:schemeClr val="tx1"/>
                                </a:solidFill>
                                <a:latin typeface="Cambria Math" panose="02040503050406030204" pitchFamily="18" charset="0"/>
                                <a:cs typeface="Arial" panose="020B0604020202020204" pitchFamily="34" charset="0"/>
                              </a:rPr>
                              <m:t>𝐴</m:t>
                            </m:r>
                          </m:e>
                        </m:d>
                      </m:num>
                      <m:den>
                        <m:r>
                          <a:rPr lang="en-US" sz="1800" i="1" smtClean="0">
                            <a:solidFill>
                              <a:schemeClr val="tx1"/>
                            </a:solidFill>
                            <a:latin typeface="Cambria Math" panose="02040503050406030204" pitchFamily="18" charset="0"/>
                            <a:cs typeface="Arial" panose="020B0604020202020204" pitchFamily="34" charset="0"/>
                          </a:rPr>
                          <m:t>𝑃</m:t>
                        </m:r>
                        <m:d>
                          <m:dPr>
                            <m:ctrlPr>
                              <a:rPr lang="en-US" sz="1800" i="1" smtClean="0">
                                <a:solidFill>
                                  <a:schemeClr val="tx1"/>
                                </a:solidFill>
                                <a:latin typeface="Cambria Math" panose="02040503050406030204" pitchFamily="18" charset="0"/>
                                <a:cs typeface="Arial" panose="020B0604020202020204" pitchFamily="34" charset="0"/>
                              </a:rPr>
                            </m:ctrlPr>
                          </m:dPr>
                          <m:e>
                            <m:r>
                              <a:rPr lang="en-US" sz="1800" i="1" smtClean="0">
                                <a:solidFill>
                                  <a:schemeClr val="tx1"/>
                                </a:solidFill>
                                <a:latin typeface="Cambria Math" panose="02040503050406030204" pitchFamily="18" charset="0"/>
                                <a:cs typeface="Arial" panose="020B0604020202020204" pitchFamily="34" charset="0"/>
                              </a:rPr>
                              <m:t>𝐵</m:t>
                            </m:r>
                          </m:e>
                        </m:d>
                      </m:den>
                    </m:f>
                  </m:oMath>
                </a14:m>
                <a:endParaRPr lang="en-US" sz="1100" dirty="0" smtClean="0">
                  <a:solidFill>
                    <a:schemeClr val="tx1"/>
                  </a:solidFill>
                  <a:latin typeface="Arial" panose="020B0604020202020204" pitchFamily="34" charset="0"/>
                  <a:cs typeface="Arial" panose="020B0604020202020204" pitchFamily="34" charset="0"/>
                </a:endParaRPr>
              </a:p>
              <a:p>
                <a:pPr>
                  <a:buClrTx/>
                  <a:buFont typeface="Wingdings" panose="05000000000000000000" pitchFamily="2" charset="2"/>
                  <a:buChar char="Ø"/>
                </a:pPr>
                <a:endParaRPr lang="en-US" sz="1600" dirty="0">
                  <a:solidFill>
                    <a:schemeClr val="tx1"/>
                  </a:solidFill>
                  <a:latin typeface="Arial" panose="020B0604020202020204" pitchFamily="34" charset="0"/>
                  <a:cs typeface="Arial" panose="020B0604020202020204" pitchFamily="34" charset="0"/>
                </a:endParaRP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097280" y="2108201"/>
                <a:ext cx="10058400" cy="3760891"/>
              </a:xfrm>
              <a:prstGeom prst="rect">
                <a:avLst/>
              </a:prstGeom>
              <a:blipFill>
                <a:blip r:embed="rId2"/>
                <a:stretch>
                  <a:fillRect l="-242" t="-324" r="-2848"/>
                </a:stretch>
              </a:blipFill>
            </p:spPr>
            <p:txBody>
              <a:bodyPr/>
              <a:lstStyle/>
              <a:p>
                <a:r>
                  <a:rPr lang="en-IN">
                    <a:noFill/>
                  </a:rPr>
                  <a:t> </a:t>
                </a:r>
              </a:p>
            </p:txBody>
          </p:sp>
        </mc:Fallback>
      </mc:AlternateContent>
    </p:spTree>
    <p:extLst>
      <p:ext uri="{BB962C8B-B14F-4D97-AF65-F5344CB8AC3E}">
        <p14:creationId xmlns:p14="http://schemas.microsoft.com/office/powerpoint/2010/main" val="2920975904"/>
      </p:ext>
    </p:extLst>
  </p:cSld>
  <p:clrMapOvr>
    <a:masterClrMapping/>
  </p:clrMapOvr>
  <p:transition spd="slow">
    <p:cove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04047" y="286603"/>
            <a:ext cx="10151633" cy="1450757"/>
          </a:xfrm>
        </p:spPr>
        <p:txBody>
          <a:bodyPr/>
          <a:lstStyle/>
          <a:p>
            <a:r>
              <a:rPr lang="en-US" dirty="0">
                <a:solidFill>
                  <a:schemeClr val="tx1"/>
                </a:solidFill>
              </a:rPr>
              <a:t>Continued…</a:t>
            </a:r>
          </a:p>
        </p:txBody>
      </p:sp>
      <p:sp>
        <p:nvSpPr>
          <p:cNvPr id="5" name="TextBox 4">
            <a:extLst>
              <a:ext uri="{FF2B5EF4-FFF2-40B4-BE49-F238E27FC236}">
                <a16:creationId xmlns:a16="http://schemas.microsoft.com/office/drawing/2014/main" id="{1DEC4A32-5321-43E6-82DB-DA69CAD66627}"/>
              </a:ext>
            </a:extLst>
          </p:cNvPr>
          <p:cNvSpPr txBox="1"/>
          <p:nvPr/>
        </p:nvSpPr>
        <p:spPr>
          <a:xfrm>
            <a:off x="1129554" y="2348754"/>
            <a:ext cx="10151632" cy="2800767"/>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rPr>
              <a:t>The term </a:t>
            </a:r>
            <a:r>
              <a:rPr kumimoji="0" lang="en-US" altLang="en-US" sz="1600" b="1" i="0" u="none" strike="noStrike" cap="none" normalizeH="0" baseline="0" dirty="0" smtClean="0">
                <a:ln>
                  <a:noFill/>
                </a:ln>
                <a:effectLst/>
                <a:latin typeface="Arial" panose="020B0604020202020204" pitchFamily="34" charset="0"/>
                <a:cs typeface="Arial" panose="020B0604020202020204" pitchFamily="34" charset="0"/>
              </a:rPr>
              <a:t>Multinomial Naive Bayes</a:t>
            </a:r>
            <a:r>
              <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rPr>
              <a:t> simply lets us know that each </a:t>
            </a:r>
            <a:r>
              <a:rPr kumimoji="0" lang="en-US" altLang="en-US" sz="1600" b="1" i="1" u="none" strike="noStrike" cap="none" normalizeH="0" baseline="0" dirty="0" smtClean="0">
                <a:ln>
                  <a:noFill/>
                </a:ln>
                <a:effectLst/>
                <a:latin typeface="Arial" panose="020B0604020202020204" pitchFamily="34" charset="0"/>
                <a:cs typeface="Arial" panose="020B0604020202020204" pitchFamily="34" charset="0"/>
              </a:rPr>
              <a:t>p(f</a:t>
            </a:r>
            <a:r>
              <a:rPr kumimoji="0" lang="en-US" altLang="en-US" sz="1600" b="1" i="1" u="none" strike="noStrike" cap="none" normalizeH="0" baseline="-25000" dirty="0" smtClean="0">
                <a:ln>
                  <a:noFill/>
                </a:ln>
                <a:effectLst/>
                <a:latin typeface="Arial" panose="020B0604020202020204" pitchFamily="34" charset="0"/>
                <a:cs typeface="Arial" panose="020B0604020202020204" pitchFamily="34" charset="0"/>
              </a:rPr>
              <a:t>i</a:t>
            </a:r>
            <a:r>
              <a:rPr lang="en-US" altLang="en-US" sz="1600" b="1" i="1" dirty="0" smtClean="0">
                <a:latin typeface="Arial" panose="020B0604020202020204" pitchFamily="34" charset="0"/>
                <a:cs typeface="Arial" panose="020B0604020202020204" pitchFamily="34" charset="0"/>
              </a:rPr>
              <a:t> / </a:t>
            </a:r>
            <a:r>
              <a:rPr kumimoji="0" lang="en-US" altLang="en-US" sz="1600" b="1" i="1" u="none" strike="noStrike" cap="none" normalizeH="0" baseline="0" dirty="0" smtClean="0">
                <a:ln>
                  <a:noFill/>
                </a:ln>
                <a:effectLst/>
                <a:latin typeface="Arial" panose="020B0604020202020204" pitchFamily="34" charset="0"/>
                <a:cs typeface="Arial" panose="020B0604020202020204" pitchFamily="34" charset="0"/>
              </a:rPr>
              <a:t>c)</a:t>
            </a:r>
            <a:r>
              <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rPr>
              <a:t> is a multinomial distribution, rather than some other distribution. This works well for data which can easily be turned into counts, such as word counts in text.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rPr>
              <a:t>The distribution we had been using with Naive Bayes classifier is a Gaussian distribution, so I guess we could call it a Gaussian Naive Bayes classifier.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smtClean="0">
                <a:ln>
                  <a:noFill/>
                </a:ln>
                <a:effectLst/>
                <a:latin typeface="Arial" panose="020B0604020202020204" pitchFamily="34" charset="0"/>
                <a:cs typeface="Arial" panose="020B0604020202020204" pitchFamily="34" charset="0"/>
              </a:rPr>
              <a:t>In summary, Naive Bayes classifier is a general term which refers to conditional independence of each of the features in the model, while Multinomial Naive Bayes classifier is a specific instance of a Naive Bayes classifier which uses a multinomial distribution for each of the features.</a:t>
            </a: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0794861"/>
      </p:ext>
    </p:extLst>
  </p:cSld>
  <p:clrMapOvr>
    <a:masterClrMapping/>
  </p:clrMapOvr>
  <p:transition spd="slow">
    <p:cov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a:solidFill>
                  <a:schemeClr val="tx1"/>
                </a:solidFill>
              </a:rPr>
              <a:t>Comparison of different models: </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956538541"/>
              </p:ext>
            </p:extLst>
          </p:nvPr>
        </p:nvGraphicFramePr>
        <p:xfrm>
          <a:off x="1097278" y="1976846"/>
          <a:ext cx="10058400" cy="3796031"/>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1126852732"/>
                    </a:ext>
                  </a:extLst>
                </a:gridCol>
                <a:gridCol w="3352800">
                  <a:extLst>
                    <a:ext uri="{9D8B030D-6E8A-4147-A177-3AD203B41FA5}">
                      <a16:colId xmlns:a16="http://schemas.microsoft.com/office/drawing/2014/main" val="2633376924"/>
                    </a:ext>
                  </a:extLst>
                </a:gridCol>
                <a:gridCol w="3352800">
                  <a:extLst>
                    <a:ext uri="{9D8B030D-6E8A-4147-A177-3AD203B41FA5}">
                      <a16:colId xmlns:a16="http://schemas.microsoft.com/office/drawing/2014/main" val="2352976668"/>
                    </a:ext>
                  </a:extLst>
                </a:gridCol>
              </a:tblGrid>
              <a:tr h="923108">
                <a:tc>
                  <a:txBody>
                    <a:bodyPr/>
                    <a:lstStyle/>
                    <a:p>
                      <a:pPr algn="ctr"/>
                      <a:r>
                        <a:rPr lang="en-IN" dirty="0" smtClean="0"/>
                        <a:t>Model</a:t>
                      </a:r>
                      <a:endParaRPr lang="en-IN" dirty="0"/>
                    </a:p>
                  </a:txBody>
                  <a:tcPr/>
                </a:tc>
                <a:tc>
                  <a:txBody>
                    <a:bodyPr/>
                    <a:lstStyle/>
                    <a:p>
                      <a:pPr algn="ctr"/>
                      <a:r>
                        <a:rPr lang="en-IN" dirty="0" smtClean="0"/>
                        <a:t>Training Time(sec)</a:t>
                      </a:r>
                      <a:endParaRPr lang="en-IN" dirty="0"/>
                    </a:p>
                  </a:txBody>
                  <a:tcPr/>
                </a:tc>
                <a:tc>
                  <a:txBody>
                    <a:bodyPr/>
                    <a:lstStyle/>
                    <a:p>
                      <a:pPr algn="ctr"/>
                      <a:r>
                        <a:rPr lang="en-IN" dirty="0" smtClean="0"/>
                        <a:t>Accuracy % (accuracy_score)</a:t>
                      </a:r>
                    </a:p>
                    <a:p>
                      <a:pPr algn="ctr"/>
                      <a:r>
                        <a:rPr lang="en-IN" dirty="0" smtClean="0"/>
                        <a:t>(count of correct</a:t>
                      </a:r>
                      <a:r>
                        <a:rPr lang="en-IN" baseline="0" dirty="0" smtClean="0"/>
                        <a:t> predictions</a:t>
                      </a:r>
                      <a:r>
                        <a:rPr lang="en-IN" dirty="0" smtClean="0"/>
                        <a:t>)</a:t>
                      </a:r>
                      <a:endParaRPr lang="en-IN" dirty="0"/>
                    </a:p>
                  </a:txBody>
                  <a:tcPr/>
                </a:tc>
                <a:extLst>
                  <a:ext uri="{0D108BD9-81ED-4DB2-BD59-A6C34878D82A}">
                    <a16:rowId xmlns:a16="http://schemas.microsoft.com/office/drawing/2014/main" val="1632408833"/>
                  </a:ext>
                </a:extLst>
              </a:tr>
              <a:tr h="374245">
                <a:tc>
                  <a:txBody>
                    <a:bodyPr/>
                    <a:lstStyle/>
                    <a:p>
                      <a:pPr algn="ctr"/>
                      <a:r>
                        <a:rPr lang="en-IN" dirty="0" smtClean="0"/>
                        <a:t>Decision Tree Classifier</a:t>
                      </a:r>
                      <a:endParaRPr lang="en-IN" dirty="0"/>
                    </a:p>
                  </a:txBody>
                  <a:tcPr/>
                </a:tc>
                <a:tc>
                  <a:txBody>
                    <a:bodyPr/>
                    <a:lstStyle/>
                    <a:p>
                      <a:pPr algn="ctr"/>
                      <a:r>
                        <a:rPr lang="en-IN" dirty="0" smtClean="0"/>
                        <a:t>108.233363151550</a:t>
                      </a:r>
                      <a:endParaRPr lang="en-IN" dirty="0"/>
                    </a:p>
                  </a:txBody>
                  <a:tcPr/>
                </a:tc>
                <a:tc>
                  <a:txBody>
                    <a:bodyPr/>
                    <a:lstStyle/>
                    <a:p>
                      <a:pPr algn="ctr"/>
                      <a:r>
                        <a:rPr lang="en-IN" dirty="0" smtClean="0"/>
                        <a:t>49.20634920634920</a:t>
                      </a:r>
                      <a:endParaRPr lang="en-IN" dirty="0"/>
                    </a:p>
                  </a:txBody>
                  <a:tcPr/>
                </a:tc>
                <a:extLst>
                  <a:ext uri="{0D108BD9-81ED-4DB2-BD59-A6C34878D82A}">
                    <a16:rowId xmlns:a16="http://schemas.microsoft.com/office/drawing/2014/main" val="241062882"/>
                  </a:ext>
                </a:extLst>
              </a:tr>
              <a:tr h="374245">
                <a:tc>
                  <a:txBody>
                    <a:bodyPr/>
                    <a:lstStyle/>
                    <a:p>
                      <a:pPr algn="ctr"/>
                      <a:r>
                        <a:rPr lang="en-IN" dirty="0" smtClean="0"/>
                        <a:t>Random</a:t>
                      </a:r>
                      <a:r>
                        <a:rPr lang="en-IN" baseline="0" dirty="0" smtClean="0"/>
                        <a:t> Forest Classifier</a:t>
                      </a:r>
                      <a:endParaRPr lang="en-IN" dirty="0"/>
                    </a:p>
                  </a:txBody>
                  <a:tcPr/>
                </a:tc>
                <a:tc>
                  <a:txBody>
                    <a:bodyPr/>
                    <a:lstStyle/>
                    <a:p>
                      <a:pPr algn="ctr"/>
                      <a:r>
                        <a:rPr lang="en-IN" dirty="0" smtClean="0"/>
                        <a:t>90.2992811203003</a:t>
                      </a:r>
                      <a:endParaRPr lang="en-IN" dirty="0"/>
                    </a:p>
                  </a:txBody>
                  <a:tcPr/>
                </a:tc>
                <a:tc>
                  <a:txBody>
                    <a:bodyPr/>
                    <a:lstStyle/>
                    <a:p>
                      <a:pPr algn="ctr"/>
                      <a:r>
                        <a:rPr lang="en-IN" dirty="0" smtClean="0"/>
                        <a:t>84.65608465608465</a:t>
                      </a:r>
                      <a:endParaRPr lang="en-IN" dirty="0"/>
                    </a:p>
                  </a:txBody>
                  <a:tcPr/>
                </a:tc>
                <a:extLst>
                  <a:ext uri="{0D108BD9-81ED-4DB2-BD59-A6C34878D82A}">
                    <a16:rowId xmlns:a16="http://schemas.microsoft.com/office/drawing/2014/main" val="1467218415"/>
                  </a:ext>
                </a:extLst>
              </a:tr>
              <a:tr h="464151">
                <a:tc>
                  <a:txBody>
                    <a:bodyPr/>
                    <a:lstStyle/>
                    <a:p>
                      <a:pPr algn="ctr"/>
                      <a:r>
                        <a:rPr lang="en-IN" dirty="0" smtClean="0"/>
                        <a:t>Passive</a:t>
                      </a:r>
                      <a:r>
                        <a:rPr lang="en-IN" baseline="0" dirty="0" smtClean="0"/>
                        <a:t> Aggressive Classifier</a:t>
                      </a:r>
                      <a:endParaRPr lang="en-IN" dirty="0"/>
                    </a:p>
                  </a:txBody>
                  <a:tcPr/>
                </a:tc>
                <a:tc>
                  <a:txBody>
                    <a:bodyPr/>
                    <a:lstStyle/>
                    <a:p>
                      <a:pPr algn="ctr"/>
                      <a:r>
                        <a:rPr lang="en-IN" dirty="0" smtClean="0"/>
                        <a:t>0.35799646377563</a:t>
                      </a:r>
                      <a:endParaRPr lang="en-IN" sz="1800" kern="1200" dirty="0" smtClean="0">
                        <a:solidFill>
                          <a:schemeClr val="dk1"/>
                        </a:solidFill>
                        <a:effectLst/>
                        <a:latin typeface="+mn-lt"/>
                        <a:ea typeface="+mn-ea"/>
                        <a:cs typeface="+mn-cs"/>
                      </a:endParaRPr>
                    </a:p>
                  </a:txBody>
                  <a:tcPr/>
                </a:tc>
                <a:tc>
                  <a:txBody>
                    <a:bodyPr/>
                    <a:lstStyle/>
                    <a:p>
                      <a:pPr algn="ctr"/>
                      <a:r>
                        <a:rPr lang="en-IN" dirty="0" smtClean="0"/>
                        <a:t>85.44973544973545</a:t>
                      </a:r>
                      <a:endParaRPr lang="en-IN" dirty="0"/>
                    </a:p>
                  </a:txBody>
                  <a:tcPr/>
                </a:tc>
                <a:extLst>
                  <a:ext uri="{0D108BD9-81ED-4DB2-BD59-A6C34878D82A}">
                    <a16:rowId xmlns:a16="http://schemas.microsoft.com/office/drawing/2014/main" val="2833845476"/>
                  </a:ext>
                </a:extLst>
              </a:tr>
              <a:tr h="374245">
                <a:tc>
                  <a:txBody>
                    <a:bodyPr/>
                    <a:lstStyle/>
                    <a:p>
                      <a:pPr algn="ctr"/>
                      <a:r>
                        <a:rPr lang="en-IN" dirty="0" smtClean="0"/>
                        <a:t>Support Vector Machine</a:t>
                      </a:r>
                      <a:endParaRPr lang="en-IN" dirty="0"/>
                    </a:p>
                  </a:txBody>
                  <a:tcPr/>
                </a:tc>
                <a:tc>
                  <a:txBody>
                    <a:bodyPr/>
                    <a:lstStyle/>
                    <a:p>
                      <a:pPr algn="ctr"/>
                      <a:r>
                        <a:rPr lang="en-IN" dirty="0" smtClean="0"/>
                        <a:t>66.0001437664032</a:t>
                      </a:r>
                      <a:endParaRPr lang="en-IN" dirty="0"/>
                    </a:p>
                  </a:txBody>
                  <a:tcPr/>
                </a:tc>
                <a:tc>
                  <a:txBody>
                    <a:bodyPr/>
                    <a:lstStyle/>
                    <a:p>
                      <a:pPr algn="ctr"/>
                      <a:r>
                        <a:rPr lang="en-IN" dirty="0" smtClean="0"/>
                        <a:t>50.79365079365079 </a:t>
                      </a:r>
                      <a:endParaRPr lang="en-IN" dirty="0"/>
                    </a:p>
                  </a:txBody>
                  <a:tcPr/>
                </a:tc>
                <a:extLst>
                  <a:ext uri="{0D108BD9-81ED-4DB2-BD59-A6C34878D82A}">
                    <a16:rowId xmlns:a16="http://schemas.microsoft.com/office/drawing/2014/main" val="3038573637"/>
                  </a:ext>
                </a:extLst>
              </a:tr>
              <a:tr h="645957">
                <a:tc>
                  <a:txBody>
                    <a:bodyPr/>
                    <a:lstStyle/>
                    <a:p>
                      <a:pPr algn="ctr"/>
                      <a:r>
                        <a:rPr lang="en-IN" dirty="0" smtClean="0"/>
                        <a:t>Multinomial</a:t>
                      </a:r>
                      <a:r>
                        <a:rPr lang="en-IN" baseline="0" dirty="0" smtClean="0"/>
                        <a:t> Naive Bayes Classifier</a:t>
                      </a:r>
                      <a:endParaRPr lang="en-IN" dirty="0"/>
                    </a:p>
                  </a:txBody>
                  <a:tcPr/>
                </a:tc>
                <a:tc>
                  <a:txBody>
                    <a:bodyPr/>
                    <a:lstStyle/>
                    <a:p>
                      <a:pPr algn="ctr"/>
                      <a:r>
                        <a:rPr lang="en-IN" dirty="0" smtClean="0"/>
                        <a:t>0.12466573715209</a:t>
                      </a:r>
                      <a:endParaRPr lang="en-IN" dirty="0"/>
                    </a:p>
                  </a:txBody>
                  <a:tcPr/>
                </a:tc>
                <a:tc>
                  <a:txBody>
                    <a:bodyPr/>
                    <a:lstStyle/>
                    <a:p>
                      <a:pPr algn="ctr"/>
                      <a:r>
                        <a:rPr lang="en-IN" dirty="0" smtClean="0"/>
                        <a:t>85.41973123973545 </a:t>
                      </a:r>
                      <a:endParaRPr lang="en-IN" dirty="0"/>
                    </a:p>
                  </a:txBody>
                  <a:tcPr/>
                </a:tc>
                <a:extLst>
                  <a:ext uri="{0D108BD9-81ED-4DB2-BD59-A6C34878D82A}">
                    <a16:rowId xmlns:a16="http://schemas.microsoft.com/office/drawing/2014/main" val="2457255439"/>
                  </a:ext>
                </a:extLst>
              </a:tr>
              <a:tr h="374245">
                <a:tc>
                  <a:txBody>
                    <a:bodyPr/>
                    <a:lstStyle/>
                    <a:p>
                      <a:pPr algn="ctr"/>
                      <a:r>
                        <a:rPr lang="en-IN" dirty="0" smtClean="0"/>
                        <a:t>Modified Multinomial</a:t>
                      </a:r>
                      <a:r>
                        <a:rPr lang="en-IN" baseline="0" dirty="0" smtClean="0"/>
                        <a:t> Naive Bayes Classifier</a:t>
                      </a:r>
                      <a:endParaRPr lang="en-IN" dirty="0"/>
                    </a:p>
                  </a:txBody>
                  <a:tcPr/>
                </a:tc>
                <a:tc>
                  <a:txBody>
                    <a:bodyPr/>
                    <a:lstStyle/>
                    <a:p>
                      <a:pPr algn="ctr"/>
                      <a:r>
                        <a:rPr lang="en-IN" dirty="0" smtClean="0"/>
                        <a:t>0.12436687546542</a:t>
                      </a:r>
                      <a:endParaRPr lang="en-IN" dirty="0"/>
                    </a:p>
                  </a:txBody>
                  <a:tcPr/>
                </a:tc>
                <a:tc>
                  <a:txBody>
                    <a:bodyPr/>
                    <a:lstStyle/>
                    <a:p>
                      <a:pPr algn="ctr"/>
                      <a:r>
                        <a:rPr lang="en-IN" dirty="0" smtClean="0"/>
                        <a:t>51.23654944356875</a:t>
                      </a:r>
                      <a:endParaRPr lang="en-IN" dirty="0"/>
                    </a:p>
                  </a:txBody>
                  <a:tcPr/>
                </a:tc>
                <a:extLst>
                  <a:ext uri="{0D108BD9-81ED-4DB2-BD59-A6C34878D82A}">
                    <a16:rowId xmlns:a16="http://schemas.microsoft.com/office/drawing/2014/main" val="2292045607"/>
                  </a:ext>
                </a:extLst>
              </a:tr>
            </a:tbl>
          </a:graphicData>
        </a:graphic>
      </p:graphicFrame>
      <p:sp>
        <p:nvSpPr>
          <p:cNvPr id="6" name="TextBox 5"/>
          <p:cNvSpPr txBox="1"/>
          <p:nvPr/>
        </p:nvSpPr>
        <p:spPr>
          <a:xfrm>
            <a:off x="1097278" y="5939246"/>
            <a:ext cx="10058400" cy="369332"/>
          </a:xfrm>
          <a:prstGeom prst="rect">
            <a:avLst/>
          </a:prstGeom>
          <a:noFill/>
        </p:spPr>
        <p:txBody>
          <a:bodyPr wrap="square" rtlCol="0">
            <a:spAutoFit/>
          </a:bodyPr>
          <a:lstStyle/>
          <a:p>
            <a:pPr algn="ctr"/>
            <a:r>
              <a:rPr lang="en-IN" dirty="0" smtClean="0"/>
              <a:t>Comparing different models based on parameters such as training time and accuracy</a:t>
            </a:r>
            <a:endParaRPr lang="en-IN" dirty="0"/>
          </a:p>
        </p:txBody>
      </p:sp>
    </p:spTree>
    <p:extLst>
      <p:ext uri="{BB962C8B-B14F-4D97-AF65-F5344CB8AC3E}">
        <p14:creationId xmlns:p14="http://schemas.microsoft.com/office/powerpoint/2010/main" val="1054382428"/>
      </p:ext>
    </p:extLst>
  </p:cSld>
  <p:clrMapOvr>
    <a:masterClrMapping/>
  </p:clrMapOvr>
  <p:transition spd="slow">
    <p:cove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Insights from comparison</a:t>
            </a:r>
            <a:endParaRPr lang="en-IN" dirty="0">
              <a:solidFill>
                <a:schemeClr val="tx1"/>
              </a:solidFill>
            </a:endParaRPr>
          </a:p>
        </p:txBody>
      </p:sp>
      <p:sp>
        <p:nvSpPr>
          <p:cNvPr id="5" name="Content Placeholder 2"/>
          <p:cNvSpPr>
            <a:spLocks noGrp="1"/>
          </p:cNvSpPr>
          <p:nvPr>
            <p:ph idx="1"/>
          </p:nvPr>
        </p:nvSpPr>
        <p:spPr>
          <a:xfrm>
            <a:off x="1097280" y="2473961"/>
            <a:ext cx="10058400" cy="3760891"/>
          </a:xfrm>
        </p:spPr>
        <p:txBody>
          <a:bodyPr/>
          <a:lstStyle/>
          <a:p>
            <a:pPr>
              <a:buClrTx/>
              <a:buFont typeface="Wingdings" panose="05000000000000000000" pitchFamily="2" charset="2"/>
              <a:buChar char="Ø"/>
            </a:pPr>
            <a:r>
              <a:rPr lang="en-IN" dirty="0" smtClean="0">
                <a:solidFill>
                  <a:schemeClr val="tx1"/>
                </a:solidFill>
              </a:rPr>
              <a:t>Training time of Multinomial Naïve Bayes and Passive Aggressive Classifier was found relatively low compared to other models.</a:t>
            </a:r>
          </a:p>
          <a:p>
            <a:pPr>
              <a:buClrTx/>
              <a:buFont typeface="Wingdings" panose="05000000000000000000" pitchFamily="2" charset="2"/>
              <a:buChar char="Ø"/>
            </a:pPr>
            <a:r>
              <a:rPr lang="en-IN" dirty="0" smtClean="0">
                <a:solidFill>
                  <a:schemeClr val="tx1"/>
                </a:solidFill>
              </a:rPr>
              <a:t>Whereas Training time of Random forest, Decision Tree, and Support Vector Machine have a better scope to be improved.</a:t>
            </a:r>
          </a:p>
          <a:p>
            <a:pPr>
              <a:buClrTx/>
              <a:buFont typeface="Wingdings" panose="05000000000000000000" pitchFamily="2" charset="2"/>
              <a:buChar char="Ø"/>
            </a:pPr>
            <a:r>
              <a:rPr lang="en-IN" dirty="0" smtClean="0">
                <a:solidFill>
                  <a:schemeClr val="tx1"/>
                </a:solidFill>
              </a:rPr>
              <a:t>Accuracy of Passive aggressive classifier, Random forest classifier and Multinomial classifier was found to be good enough and best as per our use case(Stock Sentiment).</a:t>
            </a:r>
          </a:p>
          <a:p>
            <a:pPr marL="0" indent="0">
              <a:buClrTx/>
              <a:buNone/>
            </a:pPr>
            <a:endParaRPr lang="en-IN" dirty="0">
              <a:solidFill>
                <a:schemeClr val="tx1"/>
              </a:solidFill>
            </a:endParaRPr>
          </a:p>
        </p:txBody>
      </p:sp>
    </p:spTree>
    <p:extLst>
      <p:ext uri="{BB962C8B-B14F-4D97-AF65-F5344CB8AC3E}">
        <p14:creationId xmlns:p14="http://schemas.microsoft.com/office/powerpoint/2010/main" val="15803973"/>
      </p:ext>
    </p:extLst>
  </p:cSld>
  <p:clrMapOvr>
    <a:masterClrMapping/>
  </p:clrMapOvr>
  <p:transition spd="slow">
    <p:cove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Continued…</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a:buClrTx/>
              <a:buFont typeface="Wingdings" panose="05000000000000000000" pitchFamily="2" charset="2"/>
              <a:buChar char="Ø"/>
            </a:pPr>
            <a:r>
              <a:rPr lang="en-IN" dirty="0" smtClean="0">
                <a:solidFill>
                  <a:schemeClr val="tx1"/>
                </a:solidFill>
              </a:rPr>
              <a:t>We have found out that Multinomial </a:t>
            </a:r>
            <a:r>
              <a:rPr lang="en-IN" dirty="0">
                <a:solidFill>
                  <a:schemeClr val="tx1"/>
                </a:solidFill>
              </a:rPr>
              <a:t>N</a:t>
            </a:r>
            <a:r>
              <a:rPr lang="en-IN" dirty="0" smtClean="0">
                <a:solidFill>
                  <a:schemeClr val="tx1"/>
                </a:solidFill>
              </a:rPr>
              <a:t>aïve Bayes takes the word and gives it a value which is further used to calculate the sentiment of a particular headline.</a:t>
            </a:r>
          </a:p>
          <a:p>
            <a:pPr>
              <a:buClrTx/>
              <a:buFont typeface="Wingdings" panose="05000000000000000000" pitchFamily="2" charset="2"/>
              <a:buChar char="Ø"/>
            </a:pPr>
            <a:r>
              <a:rPr lang="en-IN" dirty="0" smtClean="0">
                <a:solidFill>
                  <a:schemeClr val="tx1"/>
                </a:solidFill>
              </a:rPr>
              <a:t>But it does not account for words who have a greater impact when grouped together i.e. “not good” will be treated as “not” and “good” but it has similar meaning as “bad”.</a:t>
            </a:r>
          </a:p>
          <a:p>
            <a:pPr>
              <a:buClrTx/>
              <a:buFont typeface="Wingdings" panose="05000000000000000000" pitchFamily="2" charset="2"/>
              <a:buChar char="Ø"/>
            </a:pPr>
            <a:r>
              <a:rPr lang="en-IN" dirty="0" smtClean="0">
                <a:solidFill>
                  <a:schemeClr val="tx1"/>
                </a:solidFill>
              </a:rPr>
              <a:t>We have tried to make an adaptive Multinomial Naïve Bayes classification model which can group two words who have a greater meaning together when calculating the probability of a sentence.</a:t>
            </a:r>
          </a:p>
        </p:txBody>
      </p:sp>
    </p:spTree>
    <p:extLst>
      <p:ext uri="{BB962C8B-B14F-4D97-AF65-F5344CB8AC3E}">
        <p14:creationId xmlns:p14="http://schemas.microsoft.com/office/powerpoint/2010/main" val="3551484693"/>
      </p:ext>
    </p:extLst>
  </p:cSld>
  <p:clrMapOvr>
    <a:masterClrMapping/>
  </p:clrMapOvr>
  <p:transition spd="slow">
    <p:cove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748925" y="2351314"/>
            <a:ext cx="1181765" cy="992777"/>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p:cNvSpPr/>
          <p:nvPr/>
        </p:nvSpPr>
        <p:spPr>
          <a:xfrm>
            <a:off x="748924" y="4132217"/>
            <a:ext cx="1181765" cy="992777"/>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4541509" y="3139440"/>
            <a:ext cx="1275806" cy="992777"/>
          </a:xfrm>
          <a:prstGeom prst="ellips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ight Arrow 6"/>
          <p:cNvSpPr/>
          <p:nvPr/>
        </p:nvSpPr>
        <p:spPr>
          <a:xfrm>
            <a:off x="2445937" y="3529148"/>
            <a:ext cx="1580520"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6601095" y="2334098"/>
            <a:ext cx="1181765" cy="992777"/>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6601094" y="4115001"/>
            <a:ext cx="1181765" cy="992777"/>
          </a:xfrm>
          <a:prstGeom prst="ellipse">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10393679" y="3122224"/>
            <a:ext cx="1275806" cy="992777"/>
          </a:xfrm>
          <a:prstGeom prst="ellipse">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Arrow 10"/>
          <p:cNvSpPr/>
          <p:nvPr/>
        </p:nvSpPr>
        <p:spPr>
          <a:xfrm>
            <a:off x="8298009" y="3529148"/>
            <a:ext cx="1580520"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p:cNvCxnSpPr/>
          <p:nvPr/>
        </p:nvCxnSpPr>
        <p:spPr>
          <a:xfrm>
            <a:off x="6122126" y="1898469"/>
            <a:ext cx="52251" cy="451104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30007" y="2663036"/>
            <a:ext cx="888275" cy="369332"/>
          </a:xfrm>
          <a:prstGeom prst="rect">
            <a:avLst/>
          </a:prstGeom>
          <a:noFill/>
        </p:spPr>
        <p:txBody>
          <a:bodyPr wrap="square" rtlCol="0">
            <a:spAutoFit/>
          </a:bodyPr>
          <a:lstStyle/>
          <a:p>
            <a:r>
              <a:rPr lang="en-IN" dirty="0" smtClean="0"/>
              <a:t>Hi</a:t>
            </a:r>
            <a:endParaRPr lang="en-IN" dirty="0"/>
          </a:p>
        </p:txBody>
      </p:sp>
      <p:sp>
        <p:nvSpPr>
          <p:cNvPr id="14" name="TextBox 13"/>
          <p:cNvSpPr txBox="1"/>
          <p:nvPr/>
        </p:nvSpPr>
        <p:spPr>
          <a:xfrm>
            <a:off x="958161" y="4420783"/>
            <a:ext cx="888275" cy="369332"/>
          </a:xfrm>
          <a:prstGeom prst="rect">
            <a:avLst/>
          </a:prstGeom>
          <a:noFill/>
        </p:spPr>
        <p:txBody>
          <a:bodyPr wrap="square" rtlCol="0">
            <a:spAutoFit/>
          </a:bodyPr>
          <a:lstStyle/>
          <a:p>
            <a:r>
              <a:rPr lang="en-IN" dirty="0" smtClean="0"/>
              <a:t>Book</a:t>
            </a:r>
            <a:endParaRPr lang="en-IN" dirty="0"/>
          </a:p>
        </p:txBody>
      </p:sp>
      <p:sp>
        <p:nvSpPr>
          <p:cNvPr id="15" name="TextBox 14"/>
          <p:cNvSpPr txBox="1"/>
          <p:nvPr/>
        </p:nvSpPr>
        <p:spPr>
          <a:xfrm>
            <a:off x="4673694" y="3451162"/>
            <a:ext cx="1065044" cy="369332"/>
          </a:xfrm>
          <a:prstGeom prst="rect">
            <a:avLst/>
          </a:prstGeom>
          <a:noFill/>
        </p:spPr>
        <p:txBody>
          <a:bodyPr wrap="square" rtlCol="0">
            <a:spAutoFit/>
          </a:bodyPr>
          <a:lstStyle/>
          <a:p>
            <a:r>
              <a:rPr lang="en-IN" dirty="0" smtClean="0"/>
              <a:t>Hi Book</a:t>
            </a:r>
            <a:endParaRPr lang="en-IN" dirty="0"/>
          </a:p>
        </p:txBody>
      </p:sp>
      <p:sp>
        <p:nvSpPr>
          <p:cNvPr id="16" name="TextBox 15"/>
          <p:cNvSpPr txBox="1"/>
          <p:nvPr/>
        </p:nvSpPr>
        <p:spPr>
          <a:xfrm>
            <a:off x="6747838" y="2629317"/>
            <a:ext cx="888275" cy="369332"/>
          </a:xfrm>
          <a:prstGeom prst="rect">
            <a:avLst/>
          </a:prstGeom>
          <a:noFill/>
        </p:spPr>
        <p:txBody>
          <a:bodyPr wrap="square" rtlCol="0">
            <a:spAutoFit/>
          </a:bodyPr>
          <a:lstStyle/>
          <a:p>
            <a:r>
              <a:rPr lang="en-IN" dirty="0" smtClean="0"/>
              <a:t>Market</a:t>
            </a:r>
            <a:endParaRPr lang="en-IN" dirty="0"/>
          </a:p>
        </p:txBody>
      </p:sp>
      <p:sp>
        <p:nvSpPr>
          <p:cNvPr id="17" name="TextBox 16"/>
          <p:cNvSpPr txBox="1"/>
          <p:nvPr/>
        </p:nvSpPr>
        <p:spPr>
          <a:xfrm>
            <a:off x="6847999" y="4420783"/>
            <a:ext cx="888275" cy="369332"/>
          </a:xfrm>
          <a:prstGeom prst="rect">
            <a:avLst/>
          </a:prstGeom>
          <a:noFill/>
        </p:spPr>
        <p:txBody>
          <a:bodyPr wrap="square" rtlCol="0">
            <a:spAutoFit/>
          </a:bodyPr>
          <a:lstStyle/>
          <a:p>
            <a:r>
              <a:rPr lang="en-IN" dirty="0" smtClean="0"/>
              <a:t>Price</a:t>
            </a:r>
            <a:endParaRPr lang="en-IN" dirty="0"/>
          </a:p>
        </p:txBody>
      </p:sp>
      <p:sp>
        <p:nvSpPr>
          <p:cNvPr id="18" name="TextBox 17"/>
          <p:cNvSpPr txBox="1"/>
          <p:nvPr/>
        </p:nvSpPr>
        <p:spPr>
          <a:xfrm>
            <a:off x="10587444" y="3329443"/>
            <a:ext cx="888275" cy="646331"/>
          </a:xfrm>
          <a:prstGeom prst="rect">
            <a:avLst/>
          </a:prstGeom>
          <a:noFill/>
        </p:spPr>
        <p:txBody>
          <a:bodyPr wrap="square" rtlCol="0">
            <a:spAutoFit/>
          </a:bodyPr>
          <a:lstStyle/>
          <a:p>
            <a:r>
              <a:rPr lang="en-IN" dirty="0" smtClean="0"/>
              <a:t>Market Price</a:t>
            </a:r>
            <a:endParaRPr lang="en-IN" dirty="0"/>
          </a:p>
        </p:txBody>
      </p:sp>
      <p:sp>
        <p:nvSpPr>
          <p:cNvPr id="19" name="TextBox 18"/>
          <p:cNvSpPr txBox="1"/>
          <p:nvPr/>
        </p:nvSpPr>
        <p:spPr>
          <a:xfrm>
            <a:off x="7360926" y="5686696"/>
            <a:ext cx="3572691" cy="646331"/>
          </a:xfrm>
          <a:prstGeom prst="rect">
            <a:avLst/>
          </a:prstGeom>
          <a:noFill/>
        </p:spPr>
        <p:txBody>
          <a:bodyPr wrap="square" rtlCol="0">
            <a:spAutoFit/>
          </a:bodyPr>
          <a:lstStyle/>
          <a:p>
            <a:r>
              <a:rPr lang="en-IN" dirty="0" smtClean="0"/>
              <a:t>There is some greater meaning when two words are combined</a:t>
            </a:r>
            <a:endParaRPr lang="en-IN" dirty="0"/>
          </a:p>
        </p:txBody>
      </p:sp>
      <p:sp>
        <p:nvSpPr>
          <p:cNvPr id="20" name="TextBox 19"/>
          <p:cNvSpPr txBox="1"/>
          <p:nvPr/>
        </p:nvSpPr>
        <p:spPr>
          <a:xfrm>
            <a:off x="1826629" y="5686697"/>
            <a:ext cx="3572691" cy="646331"/>
          </a:xfrm>
          <a:prstGeom prst="rect">
            <a:avLst/>
          </a:prstGeom>
          <a:noFill/>
        </p:spPr>
        <p:txBody>
          <a:bodyPr wrap="square" rtlCol="0">
            <a:spAutoFit/>
          </a:bodyPr>
          <a:lstStyle/>
          <a:p>
            <a:r>
              <a:rPr lang="en-IN" dirty="0" smtClean="0"/>
              <a:t>No Meaning when two words are combined</a:t>
            </a:r>
            <a:endParaRPr lang="en-IN" dirty="0"/>
          </a:p>
        </p:txBody>
      </p:sp>
      <p:sp>
        <p:nvSpPr>
          <p:cNvPr id="21" name="Plus 20"/>
          <p:cNvSpPr/>
          <p:nvPr/>
        </p:nvSpPr>
        <p:spPr>
          <a:xfrm>
            <a:off x="1048178" y="3473135"/>
            <a:ext cx="583256" cy="5355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Plus 21"/>
          <p:cNvSpPr/>
          <p:nvPr/>
        </p:nvSpPr>
        <p:spPr>
          <a:xfrm>
            <a:off x="6900347" y="3451162"/>
            <a:ext cx="583256" cy="5355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p:cNvSpPr txBox="1">
            <a:spLocks/>
          </p:cNvSpPr>
          <p:nvPr/>
        </p:nvSpPr>
        <p:spPr>
          <a:xfrm>
            <a:off x="1048178" y="87774"/>
            <a:ext cx="10058400" cy="1658982"/>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IN" dirty="0" smtClean="0">
                <a:solidFill>
                  <a:schemeClr val="tx1"/>
                </a:solidFill>
              </a:rPr>
              <a:t>Grouping of words : </a:t>
            </a:r>
            <a:br>
              <a:rPr lang="en-IN" dirty="0" smtClean="0">
                <a:solidFill>
                  <a:schemeClr val="tx1"/>
                </a:solidFill>
              </a:rPr>
            </a:br>
            <a:r>
              <a:rPr lang="en-IN" dirty="0" smtClean="0">
                <a:solidFill>
                  <a:schemeClr val="tx1"/>
                </a:solidFill>
              </a:rPr>
              <a:t/>
            </a:r>
            <a:br>
              <a:rPr lang="en-IN" dirty="0" smtClean="0">
                <a:solidFill>
                  <a:schemeClr val="tx1"/>
                </a:solidFill>
              </a:rPr>
            </a:br>
            <a:r>
              <a:rPr lang="en-IN" sz="3600" dirty="0" smtClean="0">
                <a:solidFill>
                  <a:schemeClr val="tx1"/>
                </a:solidFill>
              </a:rPr>
              <a:t>Scenario -1				  Scenario - 2</a:t>
            </a:r>
            <a:endParaRPr lang="en-IN" sz="3600" dirty="0">
              <a:solidFill>
                <a:schemeClr val="tx1"/>
              </a:solidFill>
            </a:endParaRPr>
          </a:p>
        </p:txBody>
      </p:sp>
    </p:spTree>
    <p:extLst>
      <p:ext uri="{BB962C8B-B14F-4D97-AF65-F5344CB8AC3E}">
        <p14:creationId xmlns:p14="http://schemas.microsoft.com/office/powerpoint/2010/main" val="3804445728"/>
      </p:ext>
    </p:extLst>
  </p:cSld>
  <p:clrMapOvr>
    <a:masterClrMapping/>
  </p:clrMapOvr>
  <p:transition spd="slow">
    <p:cove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78379"/>
            <a:ext cx="10058400" cy="1658982"/>
          </a:xfrm>
        </p:spPr>
        <p:txBody>
          <a:bodyPr>
            <a:normAutofit fontScale="90000"/>
          </a:bodyPr>
          <a:lstStyle/>
          <a:p>
            <a:r>
              <a:rPr lang="en-IN" dirty="0" smtClean="0">
                <a:solidFill>
                  <a:schemeClr val="tx1"/>
                </a:solidFill>
              </a:rPr>
              <a:t>Grouping of words : </a:t>
            </a:r>
            <a:br>
              <a:rPr lang="en-IN" dirty="0" smtClean="0">
                <a:solidFill>
                  <a:schemeClr val="tx1"/>
                </a:solidFill>
              </a:rPr>
            </a:br>
            <a:r>
              <a:rPr lang="en-IN" dirty="0" smtClean="0">
                <a:solidFill>
                  <a:schemeClr val="tx1"/>
                </a:solidFill>
              </a:rPr>
              <a:t/>
            </a:r>
            <a:br>
              <a:rPr lang="en-IN" dirty="0" smtClean="0">
                <a:solidFill>
                  <a:schemeClr val="tx1"/>
                </a:solidFill>
              </a:rPr>
            </a:br>
            <a:r>
              <a:rPr lang="en-IN" sz="3600" dirty="0" smtClean="0">
                <a:solidFill>
                  <a:schemeClr val="tx1"/>
                </a:solidFill>
              </a:rPr>
              <a:t>Scenario </a:t>
            </a:r>
            <a:r>
              <a:rPr lang="en-IN" sz="3600" dirty="0">
                <a:solidFill>
                  <a:schemeClr val="tx1"/>
                </a:solidFill>
              </a:rPr>
              <a:t>-1			</a:t>
            </a:r>
            <a:r>
              <a:rPr lang="en-IN" sz="3600" dirty="0" smtClean="0">
                <a:solidFill>
                  <a:schemeClr val="tx1"/>
                </a:solidFill>
              </a:rPr>
              <a:t>	  Scenario </a:t>
            </a:r>
            <a:r>
              <a:rPr lang="en-IN" sz="3600" dirty="0">
                <a:solidFill>
                  <a:schemeClr val="tx1"/>
                </a:solidFill>
              </a:rPr>
              <a:t>- 2</a:t>
            </a:r>
          </a:p>
        </p:txBody>
      </p:sp>
      <p:sp>
        <p:nvSpPr>
          <p:cNvPr id="5" name="TextBox 4"/>
          <p:cNvSpPr txBox="1"/>
          <p:nvPr/>
        </p:nvSpPr>
        <p:spPr>
          <a:xfrm>
            <a:off x="1097280" y="2203269"/>
            <a:ext cx="5129348" cy="369332"/>
          </a:xfrm>
          <a:prstGeom prst="rect">
            <a:avLst/>
          </a:prstGeom>
          <a:noFill/>
        </p:spPr>
        <p:txBody>
          <a:bodyPr wrap="square" rtlCol="0">
            <a:spAutoFit/>
          </a:bodyPr>
          <a:lstStyle/>
          <a:p>
            <a:r>
              <a:rPr lang="en-IN" dirty="0" smtClean="0"/>
              <a:t>News1 - The Investors are selling their stocks. </a:t>
            </a:r>
            <a:endParaRPr lang="en-IN" dirty="0"/>
          </a:p>
        </p:txBody>
      </p:sp>
      <p:sp>
        <p:nvSpPr>
          <p:cNvPr id="6" name="TextBox 5"/>
          <p:cNvSpPr txBox="1"/>
          <p:nvPr/>
        </p:nvSpPr>
        <p:spPr>
          <a:xfrm>
            <a:off x="2098765" y="3038510"/>
            <a:ext cx="2438400" cy="369332"/>
          </a:xfrm>
          <a:prstGeom prst="rect">
            <a:avLst/>
          </a:prstGeom>
          <a:noFill/>
        </p:spPr>
        <p:txBody>
          <a:bodyPr wrap="square" rtlCol="0">
            <a:spAutoFit/>
          </a:bodyPr>
          <a:lstStyle/>
          <a:p>
            <a:r>
              <a:rPr lang="en-IN" dirty="0" smtClean="0"/>
              <a:t>Investors selling stocks</a:t>
            </a:r>
            <a:endParaRPr lang="en-IN" dirty="0"/>
          </a:p>
        </p:txBody>
      </p:sp>
      <p:sp>
        <p:nvSpPr>
          <p:cNvPr id="7" name="TextBox 6"/>
          <p:cNvSpPr txBox="1"/>
          <p:nvPr/>
        </p:nvSpPr>
        <p:spPr>
          <a:xfrm>
            <a:off x="6818811" y="2203269"/>
            <a:ext cx="5103222" cy="369332"/>
          </a:xfrm>
          <a:prstGeom prst="rect">
            <a:avLst/>
          </a:prstGeom>
          <a:noFill/>
        </p:spPr>
        <p:txBody>
          <a:bodyPr wrap="square" rtlCol="0">
            <a:spAutoFit/>
          </a:bodyPr>
          <a:lstStyle/>
          <a:p>
            <a:r>
              <a:rPr lang="en-IN" dirty="0" smtClean="0"/>
              <a:t>News 2 – Today is wormer than yesterday.</a:t>
            </a:r>
            <a:endParaRPr lang="en-IN" dirty="0"/>
          </a:p>
        </p:txBody>
      </p:sp>
      <p:sp>
        <p:nvSpPr>
          <p:cNvPr id="8" name="TextBox 7"/>
          <p:cNvSpPr txBox="1"/>
          <p:nvPr/>
        </p:nvSpPr>
        <p:spPr>
          <a:xfrm>
            <a:off x="7637417" y="3038510"/>
            <a:ext cx="2512423" cy="369332"/>
          </a:xfrm>
          <a:prstGeom prst="rect">
            <a:avLst/>
          </a:prstGeom>
          <a:noFill/>
        </p:spPr>
        <p:txBody>
          <a:bodyPr wrap="square" rtlCol="0">
            <a:spAutoFit/>
          </a:bodyPr>
          <a:lstStyle/>
          <a:p>
            <a:r>
              <a:rPr lang="en-IN" dirty="0" smtClean="0"/>
              <a:t>Today warmer yesterday</a:t>
            </a:r>
            <a:endParaRPr lang="en-IN" dirty="0"/>
          </a:p>
        </p:txBody>
      </p:sp>
      <p:sp>
        <p:nvSpPr>
          <p:cNvPr id="9" name="TextBox 8"/>
          <p:cNvSpPr txBox="1"/>
          <p:nvPr/>
        </p:nvSpPr>
        <p:spPr>
          <a:xfrm>
            <a:off x="972594" y="4697492"/>
            <a:ext cx="2503713" cy="646331"/>
          </a:xfrm>
          <a:prstGeom prst="rect">
            <a:avLst/>
          </a:prstGeom>
          <a:noFill/>
        </p:spPr>
        <p:txBody>
          <a:bodyPr wrap="square" rtlCol="0">
            <a:spAutoFit/>
          </a:bodyPr>
          <a:lstStyle/>
          <a:p>
            <a:pPr marL="285750" indent="-285750">
              <a:buFont typeface="Arial" panose="020B0604020202020204" pitchFamily="34" charset="0"/>
              <a:buChar char="•"/>
            </a:pPr>
            <a:r>
              <a:rPr lang="en-IN" dirty="0" smtClean="0"/>
              <a:t>Investors-selling</a:t>
            </a:r>
          </a:p>
          <a:p>
            <a:pPr marL="285750" indent="-285750">
              <a:buFont typeface="Arial" panose="020B0604020202020204" pitchFamily="34" charset="0"/>
              <a:buChar char="•"/>
            </a:pPr>
            <a:r>
              <a:rPr lang="en-IN" dirty="0" smtClean="0"/>
              <a:t>stocks</a:t>
            </a:r>
            <a:endParaRPr lang="en-IN" dirty="0"/>
          </a:p>
        </p:txBody>
      </p:sp>
      <p:sp>
        <p:nvSpPr>
          <p:cNvPr id="10" name="TextBox 9"/>
          <p:cNvSpPr txBox="1"/>
          <p:nvPr/>
        </p:nvSpPr>
        <p:spPr>
          <a:xfrm>
            <a:off x="3195653" y="4735898"/>
            <a:ext cx="2503713" cy="646331"/>
          </a:xfrm>
          <a:prstGeom prst="rect">
            <a:avLst/>
          </a:prstGeom>
          <a:noFill/>
        </p:spPr>
        <p:txBody>
          <a:bodyPr wrap="square" rtlCol="0">
            <a:spAutoFit/>
          </a:bodyPr>
          <a:lstStyle/>
          <a:p>
            <a:pPr marL="285750" indent="-285750">
              <a:buFont typeface="Arial" panose="020B0604020202020204" pitchFamily="34" charset="0"/>
              <a:buChar char="•"/>
            </a:pPr>
            <a:r>
              <a:rPr lang="en-IN" dirty="0" smtClean="0"/>
              <a:t>Investors</a:t>
            </a:r>
          </a:p>
          <a:p>
            <a:pPr marL="285750" indent="-285750">
              <a:buFont typeface="Arial" panose="020B0604020202020204" pitchFamily="34" charset="0"/>
              <a:buChar char="•"/>
            </a:pPr>
            <a:r>
              <a:rPr lang="en-IN" dirty="0" smtClean="0"/>
              <a:t>selling-stocks</a:t>
            </a:r>
            <a:endParaRPr lang="en-IN" dirty="0"/>
          </a:p>
        </p:txBody>
      </p:sp>
      <p:sp>
        <p:nvSpPr>
          <p:cNvPr id="11" name="TextBox 10"/>
          <p:cNvSpPr txBox="1"/>
          <p:nvPr/>
        </p:nvSpPr>
        <p:spPr>
          <a:xfrm>
            <a:off x="6580914" y="4697491"/>
            <a:ext cx="2503713" cy="646331"/>
          </a:xfrm>
          <a:prstGeom prst="rect">
            <a:avLst/>
          </a:prstGeom>
          <a:noFill/>
        </p:spPr>
        <p:txBody>
          <a:bodyPr wrap="square" rtlCol="0">
            <a:spAutoFit/>
          </a:bodyPr>
          <a:lstStyle/>
          <a:p>
            <a:pPr marL="285750" indent="-285750">
              <a:buFont typeface="Arial" panose="020B0604020202020204" pitchFamily="34" charset="0"/>
              <a:buChar char="•"/>
            </a:pPr>
            <a:r>
              <a:rPr lang="en-IN" dirty="0" smtClean="0"/>
              <a:t>Today-warmer</a:t>
            </a:r>
          </a:p>
          <a:p>
            <a:pPr marL="285750" indent="-285750">
              <a:buFont typeface="Arial" panose="020B0604020202020204" pitchFamily="34" charset="0"/>
              <a:buChar char="•"/>
            </a:pPr>
            <a:r>
              <a:rPr lang="en-IN" dirty="0" smtClean="0"/>
              <a:t>yesterday</a:t>
            </a:r>
            <a:endParaRPr lang="en-IN" dirty="0"/>
          </a:p>
        </p:txBody>
      </p:sp>
      <p:sp>
        <p:nvSpPr>
          <p:cNvPr id="12" name="TextBox 11"/>
          <p:cNvSpPr txBox="1"/>
          <p:nvPr/>
        </p:nvSpPr>
        <p:spPr>
          <a:xfrm>
            <a:off x="8755693" y="4697491"/>
            <a:ext cx="2503713" cy="646331"/>
          </a:xfrm>
          <a:prstGeom prst="rect">
            <a:avLst/>
          </a:prstGeom>
          <a:noFill/>
        </p:spPr>
        <p:txBody>
          <a:bodyPr wrap="square" rtlCol="0">
            <a:spAutoFit/>
          </a:bodyPr>
          <a:lstStyle/>
          <a:p>
            <a:pPr marL="285750" indent="-285750">
              <a:buFont typeface="Arial" panose="020B0604020202020204" pitchFamily="34" charset="0"/>
              <a:buChar char="•"/>
            </a:pPr>
            <a:r>
              <a:rPr lang="en-IN" dirty="0" smtClean="0"/>
              <a:t>Today</a:t>
            </a:r>
          </a:p>
          <a:p>
            <a:pPr marL="285750" indent="-285750">
              <a:buFont typeface="Arial" panose="020B0604020202020204" pitchFamily="34" charset="0"/>
              <a:buChar char="•"/>
            </a:pPr>
            <a:r>
              <a:rPr lang="en-IN" dirty="0" smtClean="0"/>
              <a:t>Warmer-yesterday</a:t>
            </a:r>
            <a:endParaRPr lang="en-IN" dirty="0"/>
          </a:p>
        </p:txBody>
      </p:sp>
      <p:sp>
        <p:nvSpPr>
          <p:cNvPr id="13" name="Right Arrow 12"/>
          <p:cNvSpPr/>
          <p:nvPr/>
        </p:nvSpPr>
        <p:spPr>
          <a:xfrm rot="5400000">
            <a:off x="3072338" y="2658905"/>
            <a:ext cx="491252" cy="3186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Arrow 13"/>
          <p:cNvSpPr/>
          <p:nvPr/>
        </p:nvSpPr>
        <p:spPr>
          <a:xfrm rot="5400000">
            <a:off x="8669390" y="2658905"/>
            <a:ext cx="491252" cy="3186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urved Connector 14"/>
          <p:cNvCxnSpPr>
            <a:stCxn id="6" idx="2"/>
            <a:endCxn id="9" idx="0"/>
          </p:cNvCxnSpPr>
          <p:nvPr/>
        </p:nvCxnSpPr>
        <p:spPr>
          <a:xfrm rot="5400000">
            <a:off x="2126383" y="3505910"/>
            <a:ext cx="1289650" cy="1093514"/>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6" name="Curved Connector 15"/>
          <p:cNvCxnSpPr>
            <a:stCxn id="6" idx="2"/>
            <a:endCxn id="10" idx="0"/>
          </p:cNvCxnSpPr>
          <p:nvPr/>
        </p:nvCxnSpPr>
        <p:spPr>
          <a:xfrm rot="16200000" flipH="1">
            <a:off x="3218709" y="3507097"/>
            <a:ext cx="1328056" cy="1129545"/>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7" name="Curved Connector 16"/>
          <p:cNvCxnSpPr>
            <a:stCxn id="8" idx="2"/>
            <a:endCxn id="11" idx="0"/>
          </p:cNvCxnSpPr>
          <p:nvPr/>
        </p:nvCxnSpPr>
        <p:spPr>
          <a:xfrm rot="5400000">
            <a:off x="7718376" y="3522237"/>
            <a:ext cx="1289649" cy="1060858"/>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8" name="Curved Connector 17"/>
          <p:cNvCxnSpPr>
            <a:stCxn id="8" idx="2"/>
            <a:endCxn id="12" idx="0"/>
          </p:cNvCxnSpPr>
          <p:nvPr/>
        </p:nvCxnSpPr>
        <p:spPr>
          <a:xfrm rot="16200000" flipH="1">
            <a:off x="8805765" y="3495705"/>
            <a:ext cx="1289649" cy="111392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718455" y="5679365"/>
            <a:ext cx="5199018" cy="307777"/>
          </a:xfrm>
          <a:prstGeom prst="rect">
            <a:avLst/>
          </a:prstGeom>
          <a:noFill/>
        </p:spPr>
        <p:txBody>
          <a:bodyPr wrap="square" rtlCol="0">
            <a:spAutoFit/>
          </a:bodyPr>
          <a:lstStyle/>
          <a:p>
            <a:r>
              <a:rPr lang="en-IN" sz="1400" i="1" dirty="0" smtClean="0"/>
              <a:t>There is some greater meaning when two words are combined</a:t>
            </a:r>
            <a:endParaRPr lang="en-IN" sz="1400" i="1" dirty="0"/>
          </a:p>
        </p:txBody>
      </p:sp>
      <p:sp>
        <p:nvSpPr>
          <p:cNvPr id="20" name="TextBox 19"/>
          <p:cNvSpPr txBox="1"/>
          <p:nvPr/>
        </p:nvSpPr>
        <p:spPr>
          <a:xfrm>
            <a:off x="6315507" y="5679362"/>
            <a:ext cx="5199018" cy="307777"/>
          </a:xfrm>
          <a:prstGeom prst="rect">
            <a:avLst/>
          </a:prstGeom>
          <a:noFill/>
        </p:spPr>
        <p:txBody>
          <a:bodyPr wrap="square" rtlCol="0">
            <a:spAutoFit/>
          </a:bodyPr>
          <a:lstStyle/>
          <a:p>
            <a:r>
              <a:rPr lang="en-IN" sz="1400" i="1" dirty="0" smtClean="0"/>
              <a:t>Not a good combination of words since they don’t convey meaning</a:t>
            </a:r>
            <a:endParaRPr lang="en-IN" sz="1400" i="1" dirty="0"/>
          </a:p>
        </p:txBody>
      </p:sp>
    </p:spTree>
    <p:extLst>
      <p:ext uri="{BB962C8B-B14F-4D97-AF65-F5344CB8AC3E}">
        <p14:creationId xmlns:p14="http://schemas.microsoft.com/office/powerpoint/2010/main" val="3688915196"/>
      </p:ext>
    </p:extLst>
  </p:cSld>
  <p:clrMapOvr>
    <a:masterClrMapping/>
  </p:clrMapOvr>
  <p:transition spd="slow">
    <p:cove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a word is positive/negative sentiment</a:t>
            </a:r>
            <a:endParaRPr lang="en-IN" dirty="0"/>
          </a:p>
        </p:txBody>
      </p:sp>
      <p:sp>
        <p:nvSpPr>
          <p:cNvPr id="3" name="Content Placeholder 2"/>
          <p:cNvSpPr>
            <a:spLocks noGrp="1"/>
          </p:cNvSpPr>
          <p:nvPr>
            <p:ph idx="1"/>
          </p:nvPr>
        </p:nvSpPr>
        <p:spPr/>
        <p:txBody>
          <a:bodyPr/>
          <a:lstStyle/>
          <a:p>
            <a:r>
              <a:rPr lang="en-IN" dirty="0" smtClean="0">
                <a:solidFill>
                  <a:schemeClr val="tx1"/>
                </a:solidFill>
              </a:rPr>
              <a:t>Let us take an example of a negatively marked and positively marked sentence:</a:t>
            </a:r>
          </a:p>
          <a:p>
            <a:pPr lvl="1"/>
            <a:r>
              <a:rPr lang="en-IN" dirty="0" smtClean="0">
                <a:solidFill>
                  <a:schemeClr val="tx1"/>
                </a:solidFill>
              </a:rPr>
              <a:t>Amazon does a lot of frauds while delivery.      </a:t>
            </a:r>
            <a:r>
              <a:rPr lang="en-IN" dirty="0" smtClean="0">
                <a:solidFill>
                  <a:schemeClr val="tx1"/>
                </a:solidFill>
                <a:sym typeface="Wingdings" panose="05000000000000000000" pitchFamily="2" charset="2"/>
              </a:rPr>
              <a:t></a:t>
            </a:r>
            <a:r>
              <a:rPr lang="en-IN" dirty="0" smtClean="0">
                <a:solidFill>
                  <a:schemeClr val="tx1"/>
                </a:solidFill>
              </a:rPr>
              <a:t>      negative</a:t>
            </a:r>
          </a:p>
          <a:p>
            <a:pPr lvl="1"/>
            <a:r>
              <a:rPr lang="en-IN" dirty="0" smtClean="0">
                <a:solidFill>
                  <a:schemeClr val="tx1"/>
                </a:solidFill>
              </a:rPr>
              <a:t>Flipkart delivery service is fast.		</a:t>
            </a:r>
            <a:r>
              <a:rPr lang="en-IN" dirty="0" smtClean="0">
                <a:solidFill>
                  <a:schemeClr val="tx1"/>
                </a:solidFill>
                <a:sym typeface="Wingdings" panose="05000000000000000000" pitchFamily="2" charset="2"/>
              </a:rPr>
              <a:t>      positive</a:t>
            </a:r>
          </a:p>
          <a:p>
            <a:pPr marL="201168" lvl="1" indent="0">
              <a:buNone/>
            </a:pPr>
            <a:r>
              <a:rPr lang="en-IN" dirty="0" smtClean="0">
                <a:solidFill>
                  <a:schemeClr val="tx1"/>
                </a:solidFill>
                <a:sym typeface="Wingdings" panose="05000000000000000000" pitchFamily="2" charset="2"/>
              </a:rPr>
              <a:t>Now if we consider the first sentence then :</a:t>
            </a:r>
            <a:endParaRPr lang="en-IN" dirty="0" smtClean="0">
              <a:solidFill>
                <a:schemeClr val="tx1"/>
              </a:solidFill>
            </a:endParaRPr>
          </a:p>
          <a:p>
            <a:pPr marL="384048" lvl="2" indent="0">
              <a:buNone/>
            </a:pPr>
            <a:r>
              <a:rPr lang="en-IN" dirty="0" smtClean="0">
                <a:solidFill>
                  <a:schemeClr val="tx1"/>
                </a:solidFill>
              </a:rPr>
              <a:t>It will learn to associate the following words </a:t>
            </a:r>
            <a:r>
              <a:rPr lang="en-IN" i="1" u="sng" dirty="0" smtClean="0">
                <a:solidFill>
                  <a:schemeClr val="tx1"/>
                </a:solidFill>
              </a:rPr>
              <a:t>Amazon</a:t>
            </a:r>
            <a:r>
              <a:rPr lang="en-IN" i="1" dirty="0" smtClean="0">
                <a:solidFill>
                  <a:schemeClr val="tx1"/>
                </a:solidFill>
              </a:rPr>
              <a:t>, </a:t>
            </a:r>
            <a:r>
              <a:rPr lang="en-IN" i="1" u="sng" dirty="0" smtClean="0">
                <a:solidFill>
                  <a:schemeClr val="tx1"/>
                </a:solidFill>
              </a:rPr>
              <a:t>does</a:t>
            </a:r>
            <a:r>
              <a:rPr lang="en-IN" i="1" dirty="0" smtClean="0">
                <a:solidFill>
                  <a:schemeClr val="tx1"/>
                </a:solidFill>
              </a:rPr>
              <a:t>, </a:t>
            </a:r>
            <a:r>
              <a:rPr lang="en-IN" i="1" u="sng" dirty="0" smtClean="0">
                <a:solidFill>
                  <a:schemeClr val="tx1"/>
                </a:solidFill>
              </a:rPr>
              <a:t>lot</a:t>
            </a:r>
            <a:r>
              <a:rPr lang="en-IN" i="1" dirty="0" smtClean="0">
                <a:solidFill>
                  <a:schemeClr val="tx1"/>
                </a:solidFill>
              </a:rPr>
              <a:t>, </a:t>
            </a:r>
            <a:r>
              <a:rPr lang="en-IN" i="1" u="sng" dirty="0" smtClean="0">
                <a:solidFill>
                  <a:schemeClr val="tx1"/>
                </a:solidFill>
              </a:rPr>
              <a:t>frauds</a:t>
            </a:r>
            <a:r>
              <a:rPr lang="en-IN" i="1" dirty="0" smtClean="0">
                <a:solidFill>
                  <a:schemeClr val="tx1"/>
                </a:solidFill>
              </a:rPr>
              <a:t>, </a:t>
            </a:r>
            <a:r>
              <a:rPr lang="en-IN" i="1" u="sng" dirty="0" smtClean="0">
                <a:solidFill>
                  <a:schemeClr val="tx1"/>
                </a:solidFill>
              </a:rPr>
              <a:t>while</a:t>
            </a:r>
            <a:r>
              <a:rPr lang="en-IN" i="1" dirty="0" smtClean="0">
                <a:solidFill>
                  <a:schemeClr val="tx1"/>
                </a:solidFill>
              </a:rPr>
              <a:t>, </a:t>
            </a:r>
            <a:r>
              <a:rPr lang="en-IN" dirty="0" smtClean="0">
                <a:solidFill>
                  <a:schemeClr val="tx1"/>
                </a:solidFill>
              </a:rPr>
              <a:t>and </a:t>
            </a:r>
            <a:r>
              <a:rPr lang="en-IN" i="1" u="sng" dirty="0" smtClean="0">
                <a:solidFill>
                  <a:schemeClr val="tx1"/>
                </a:solidFill>
              </a:rPr>
              <a:t>delivery</a:t>
            </a:r>
            <a:r>
              <a:rPr lang="en-IN" dirty="0" smtClean="0">
                <a:solidFill>
                  <a:schemeClr val="tx1"/>
                </a:solidFill>
              </a:rPr>
              <a:t> all as negative sentiments.</a:t>
            </a:r>
          </a:p>
          <a:p>
            <a:pPr marL="384048" lvl="2" indent="0">
              <a:buNone/>
            </a:pPr>
            <a:r>
              <a:rPr lang="en-IN" dirty="0" smtClean="0">
                <a:solidFill>
                  <a:schemeClr val="tx1"/>
                </a:solidFill>
              </a:rPr>
              <a:t>Obviously we don’t want </a:t>
            </a:r>
            <a:r>
              <a:rPr lang="en-IN" b="1" i="1" dirty="0" smtClean="0">
                <a:solidFill>
                  <a:schemeClr val="tx1"/>
                </a:solidFill>
              </a:rPr>
              <a:t>Amazon</a:t>
            </a:r>
            <a:r>
              <a:rPr lang="en-IN" dirty="0" smtClean="0">
                <a:solidFill>
                  <a:schemeClr val="tx1"/>
                </a:solidFill>
              </a:rPr>
              <a:t> or </a:t>
            </a:r>
            <a:r>
              <a:rPr lang="en-IN" b="1" i="1" dirty="0" smtClean="0">
                <a:solidFill>
                  <a:schemeClr val="tx1"/>
                </a:solidFill>
              </a:rPr>
              <a:t>delivery</a:t>
            </a:r>
            <a:r>
              <a:rPr lang="en-IN" dirty="0" smtClean="0">
                <a:solidFill>
                  <a:schemeClr val="tx1"/>
                </a:solidFill>
              </a:rPr>
              <a:t> or </a:t>
            </a:r>
            <a:r>
              <a:rPr lang="en-IN" b="1" i="1" dirty="0" smtClean="0">
                <a:solidFill>
                  <a:schemeClr val="tx1"/>
                </a:solidFill>
              </a:rPr>
              <a:t>lot</a:t>
            </a:r>
            <a:r>
              <a:rPr lang="en-IN" dirty="0" smtClean="0">
                <a:solidFill>
                  <a:schemeClr val="tx1"/>
                </a:solidFill>
              </a:rPr>
              <a:t> to be in negative sentiment, so </a:t>
            </a:r>
            <a:r>
              <a:rPr lang="en-US" dirty="0">
                <a:solidFill>
                  <a:schemeClr val="tx1"/>
                </a:solidFill>
              </a:rPr>
              <a:t>u</a:t>
            </a:r>
            <a:r>
              <a:rPr lang="en-US" dirty="0" smtClean="0">
                <a:solidFill>
                  <a:schemeClr val="tx1"/>
                </a:solidFill>
              </a:rPr>
              <a:t>nlearning </a:t>
            </a:r>
            <a:r>
              <a:rPr lang="en-US" dirty="0">
                <a:solidFill>
                  <a:schemeClr val="tx1"/>
                </a:solidFill>
              </a:rPr>
              <a:t>this will require training set instances with the word </a:t>
            </a:r>
            <a:r>
              <a:rPr lang="en-US" b="1" i="1" dirty="0" smtClean="0">
                <a:solidFill>
                  <a:schemeClr val="tx1"/>
                </a:solidFill>
              </a:rPr>
              <a:t>Amazon, delivery </a:t>
            </a:r>
            <a:r>
              <a:rPr lang="en-US" dirty="0" smtClean="0">
                <a:solidFill>
                  <a:schemeClr val="tx1"/>
                </a:solidFill>
              </a:rPr>
              <a:t>or</a:t>
            </a:r>
            <a:r>
              <a:rPr lang="en-US" b="1" i="1" dirty="0" smtClean="0">
                <a:solidFill>
                  <a:schemeClr val="tx1"/>
                </a:solidFill>
              </a:rPr>
              <a:t> lot</a:t>
            </a:r>
            <a:r>
              <a:rPr lang="en-US" dirty="0">
                <a:solidFill>
                  <a:schemeClr val="tx1"/>
                </a:solidFill>
              </a:rPr>
              <a:t> in them that are </a:t>
            </a:r>
            <a:r>
              <a:rPr lang="en-US" dirty="0" smtClean="0">
                <a:solidFill>
                  <a:schemeClr val="tx1"/>
                </a:solidFill>
              </a:rPr>
              <a:t>labeled as positive.</a:t>
            </a:r>
          </a:p>
          <a:p>
            <a:pPr marL="201168" lvl="1" indent="0">
              <a:buNone/>
            </a:pPr>
            <a:r>
              <a:rPr lang="en-US" dirty="0">
                <a:solidFill>
                  <a:schemeClr val="tx1"/>
                </a:solidFill>
              </a:rPr>
              <a:t>I</a:t>
            </a:r>
            <a:r>
              <a:rPr lang="en-US" dirty="0" smtClean="0">
                <a:solidFill>
                  <a:schemeClr val="tx1"/>
                </a:solidFill>
              </a:rPr>
              <a:t>n the second sentence delivery is a positive sentiment word.</a:t>
            </a:r>
            <a:endParaRPr lang="en-IN" dirty="0" smtClean="0">
              <a:solidFill>
                <a:schemeClr val="tx1"/>
              </a:solidFill>
            </a:endParaRPr>
          </a:p>
        </p:txBody>
      </p:sp>
    </p:spTree>
    <p:extLst>
      <p:ext uri="{BB962C8B-B14F-4D97-AF65-F5344CB8AC3E}">
        <p14:creationId xmlns:p14="http://schemas.microsoft.com/office/powerpoint/2010/main" val="3310174196"/>
      </p:ext>
    </p:extLst>
  </p:cSld>
  <p:clrMapOvr>
    <a:masterClrMapping/>
  </p:clrMapOvr>
  <p:transition spd="slow">
    <p:cove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286603"/>
            <a:ext cx="10058400" cy="1450757"/>
          </a:xfrm>
        </p:spPr>
        <p:txBody>
          <a:bodyPr/>
          <a:lstStyle/>
          <a:p>
            <a:r>
              <a:rPr lang="en-IN" dirty="0" smtClean="0">
                <a:solidFill>
                  <a:schemeClr val="tx1"/>
                </a:solidFill>
              </a:rPr>
              <a:t>Conclusion</a:t>
            </a:r>
            <a:endParaRPr lang="en-IN" dirty="0">
              <a:solidFill>
                <a:schemeClr val="tx1"/>
              </a:solidFill>
            </a:endParaRPr>
          </a:p>
        </p:txBody>
      </p:sp>
      <p:sp>
        <p:nvSpPr>
          <p:cNvPr id="5" name="Content Placeholder 2"/>
          <p:cNvSpPr>
            <a:spLocks noGrp="1"/>
          </p:cNvSpPr>
          <p:nvPr>
            <p:ph idx="1"/>
          </p:nvPr>
        </p:nvSpPr>
        <p:spPr>
          <a:xfrm>
            <a:off x="1097280" y="2108201"/>
            <a:ext cx="10058400" cy="3760891"/>
          </a:xfrm>
        </p:spPr>
        <p:txBody>
          <a:bodyPr/>
          <a:lstStyle/>
          <a:p>
            <a:pPr marL="0" indent="0">
              <a:buClr>
                <a:schemeClr val="tx1">
                  <a:lumMod val="95000"/>
                  <a:lumOff val="5000"/>
                </a:schemeClr>
              </a:buClr>
              <a:buNone/>
            </a:pPr>
            <a:r>
              <a:rPr lang="en-IN" dirty="0" smtClean="0">
                <a:solidFill>
                  <a:schemeClr val="tx1"/>
                </a:solidFill>
              </a:rPr>
              <a:t>From the above block diagram we can conclude the following : </a:t>
            </a:r>
          </a:p>
          <a:p>
            <a:pPr>
              <a:buClr>
                <a:schemeClr val="tx1">
                  <a:lumMod val="95000"/>
                  <a:lumOff val="5000"/>
                </a:schemeClr>
              </a:buClr>
              <a:buFont typeface="Wingdings" panose="05000000000000000000" pitchFamily="2" charset="2"/>
              <a:buChar char="Ø"/>
            </a:pPr>
            <a:r>
              <a:rPr lang="en-IN" dirty="0" smtClean="0">
                <a:solidFill>
                  <a:schemeClr val="tx1"/>
                </a:solidFill>
              </a:rPr>
              <a:t>We have got an accuracy of 51.23% for the model.</a:t>
            </a:r>
          </a:p>
          <a:p>
            <a:pPr>
              <a:buClr>
                <a:schemeClr val="tx1">
                  <a:lumMod val="95000"/>
                  <a:lumOff val="5000"/>
                </a:schemeClr>
              </a:buClr>
              <a:buFont typeface="Wingdings" panose="05000000000000000000" pitchFamily="2" charset="2"/>
              <a:buChar char="Ø"/>
            </a:pPr>
            <a:r>
              <a:rPr lang="en-IN" dirty="0" smtClean="0">
                <a:solidFill>
                  <a:schemeClr val="tx1"/>
                </a:solidFill>
              </a:rPr>
              <a:t>We got to know that when we combined 2 words then words having no meaning were more as compared to the number of words that have a greater meaning when combined together.</a:t>
            </a:r>
          </a:p>
          <a:p>
            <a:pPr>
              <a:buClr>
                <a:schemeClr val="tx1">
                  <a:lumMod val="95000"/>
                  <a:lumOff val="5000"/>
                </a:schemeClr>
              </a:buClr>
              <a:buFont typeface="Wingdings" panose="05000000000000000000" pitchFamily="2" charset="2"/>
              <a:buChar char="Ø"/>
            </a:pPr>
            <a:r>
              <a:rPr lang="en-IN" dirty="0" smtClean="0">
                <a:solidFill>
                  <a:schemeClr val="tx1"/>
                </a:solidFill>
              </a:rPr>
              <a:t>For now we merged only two words together but we can have a future scope of combining more than 2 words that have a greater impact as a whole.</a:t>
            </a:r>
          </a:p>
          <a:p>
            <a:pPr>
              <a:buClr>
                <a:schemeClr val="tx1">
                  <a:lumMod val="95000"/>
                  <a:lumOff val="5000"/>
                </a:schemeClr>
              </a:buClr>
              <a:buFont typeface="Wingdings" panose="05000000000000000000" pitchFamily="2" charset="2"/>
              <a:buChar char="Ø"/>
            </a:pPr>
            <a:endParaRPr lang="en-IN" dirty="0">
              <a:solidFill>
                <a:schemeClr val="tx1"/>
              </a:solidFill>
            </a:endParaRPr>
          </a:p>
        </p:txBody>
      </p:sp>
    </p:spTree>
    <p:extLst>
      <p:ext uri="{BB962C8B-B14F-4D97-AF65-F5344CB8AC3E}">
        <p14:creationId xmlns:p14="http://schemas.microsoft.com/office/powerpoint/2010/main" val="1002511114"/>
      </p:ext>
    </p:extLst>
  </p:cSld>
  <p:clrMapOvr>
    <a:masterClrMapping/>
  </p:clrMapOvr>
  <p:transition spd="slow">
    <p:cove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14562B-146F-43F0-919C-370A32A8B94A}"/>
              </a:ext>
            </a:extLst>
          </p:cNvPr>
          <p:cNvSpPr>
            <a:spLocks noGrp="1"/>
          </p:cNvSpPr>
          <p:nvPr>
            <p:ph type="title"/>
          </p:nvPr>
        </p:nvSpPr>
        <p:spPr>
          <a:xfrm>
            <a:off x="1097280" y="286603"/>
            <a:ext cx="10058400" cy="1450757"/>
          </a:xfrm>
        </p:spPr>
        <p:txBody>
          <a:bodyPr/>
          <a:lstStyle/>
          <a:p>
            <a:r>
              <a:rPr lang="en-US" dirty="0">
                <a:solidFill>
                  <a:schemeClr val="tx1"/>
                </a:solidFill>
              </a:rPr>
              <a:t>Future </a:t>
            </a:r>
            <a:r>
              <a:rPr lang="en-US" dirty="0" smtClean="0">
                <a:solidFill>
                  <a:schemeClr val="tx1"/>
                </a:solidFill>
              </a:rPr>
              <a:t>Scope</a:t>
            </a:r>
            <a:endParaRPr lang="en-US" dirty="0">
              <a:solidFill>
                <a:schemeClr val="tx1"/>
              </a:solidFill>
            </a:endParaRPr>
          </a:p>
        </p:txBody>
      </p:sp>
      <p:sp>
        <p:nvSpPr>
          <p:cNvPr id="5" name="Content Placeholder 2">
            <a:extLst>
              <a:ext uri="{FF2B5EF4-FFF2-40B4-BE49-F238E27FC236}">
                <a16:creationId xmlns:a16="http://schemas.microsoft.com/office/drawing/2014/main" id="{98E5B0FA-8952-4509-B9CA-843A22AF8331}"/>
              </a:ext>
            </a:extLst>
          </p:cNvPr>
          <p:cNvSpPr txBox="1">
            <a:spLocks/>
          </p:cNvSpPr>
          <p:nvPr/>
        </p:nvSpPr>
        <p:spPr>
          <a:xfrm>
            <a:off x="1097280" y="2108201"/>
            <a:ext cx="10058400"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Tx/>
              <a:buFont typeface="Wingdings" panose="05000000000000000000" pitchFamily="2" charset="2"/>
              <a:buChar char="Ø"/>
            </a:pPr>
            <a:r>
              <a:rPr lang="en-US" dirty="0" smtClean="0">
                <a:solidFill>
                  <a:schemeClr val="tx1"/>
                </a:solidFill>
              </a:rPr>
              <a:t>Optimizing the grouping of words in a more optimal manner according to their meaning.</a:t>
            </a:r>
          </a:p>
          <a:p>
            <a:pPr>
              <a:buClrTx/>
              <a:buFont typeface="Wingdings" panose="05000000000000000000" pitchFamily="2" charset="2"/>
              <a:buChar char="Ø"/>
            </a:pPr>
            <a:r>
              <a:rPr lang="en-US" dirty="0">
                <a:solidFill>
                  <a:schemeClr val="tx1"/>
                </a:solidFill>
              </a:rPr>
              <a:t>Enhancing the adaptive model to achieve better accuracy</a:t>
            </a:r>
            <a:r>
              <a:rPr lang="en-US" dirty="0" smtClean="0">
                <a:solidFill>
                  <a:schemeClr val="tx1"/>
                </a:solidFill>
              </a:rPr>
              <a:t>.</a:t>
            </a:r>
          </a:p>
          <a:p>
            <a:pPr>
              <a:buClrTx/>
              <a:buFont typeface="Wingdings" panose="05000000000000000000" pitchFamily="2" charset="2"/>
              <a:buChar char="Ø"/>
            </a:pPr>
            <a:r>
              <a:rPr lang="en-US" dirty="0" smtClean="0">
                <a:solidFill>
                  <a:schemeClr val="tx1"/>
                </a:solidFill>
              </a:rPr>
              <a:t>Further optimizing the model for even better overall performance in terms of accuracy, time of training and in also when the model is working on real time data.</a:t>
            </a:r>
            <a:endParaRPr lang="en-US" dirty="0">
              <a:solidFill>
                <a:schemeClr val="tx1"/>
              </a:solidFill>
            </a:endParaRPr>
          </a:p>
        </p:txBody>
      </p:sp>
    </p:spTree>
    <p:extLst>
      <p:ext uri="{BB962C8B-B14F-4D97-AF65-F5344CB8AC3E}">
        <p14:creationId xmlns:p14="http://schemas.microsoft.com/office/powerpoint/2010/main" val="668801882"/>
      </p:ext>
    </p:extLst>
  </p:cSld>
  <p:clrMapOvr>
    <a:masterClrMapping/>
  </p:clrMapOvr>
  <p:transition spd="slow">
    <p:cove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3DE2-CE95-44EC-9511-FB44139147D9}"/>
              </a:ext>
            </a:extLst>
          </p:cNvPr>
          <p:cNvSpPr>
            <a:spLocks noGrp="1"/>
          </p:cNvSpPr>
          <p:nvPr>
            <p:ph type="title"/>
          </p:nvPr>
        </p:nvSpPr>
        <p:spPr/>
        <p:txBody>
          <a:bodyPr/>
          <a:lstStyle/>
          <a:p>
            <a:r>
              <a:rPr lang="en-US" dirty="0">
                <a:solidFill>
                  <a:schemeClr val="tx1"/>
                </a:solidFill>
              </a:rPr>
              <a:t>References</a:t>
            </a:r>
          </a:p>
        </p:txBody>
      </p:sp>
      <p:sp>
        <p:nvSpPr>
          <p:cNvPr id="3" name="Content Placeholder 2">
            <a:extLst>
              <a:ext uri="{FF2B5EF4-FFF2-40B4-BE49-F238E27FC236}">
                <a16:creationId xmlns:a16="http://schemas.microsoft.com/office/drawing/2014/main" id="{82B172BD-F6C3-41BC-B78D-B4C6F441CC47}"/>
              </a:ext>
            </a:extLst>
          </p:cNvPr>
          <p:cNvSpPr>
            <a:spLocks noGrp="1"/>
          </p:cNvSpPr>
          <p:nvPr>
            <p:ph idx="1"/>
          </p:nvPr>
        </p:nvSpPr>
        <p:spPr/>
        <p:txBody>
          <a:bodyPr>
            <a:normAutofit fontScale="70000" lnSpcReduction="20000"/>
          </a:bodyPr>
          <a:lstStyle/>
          <a:p>
            <a:r>
              <a:rPr lang="en-IN" dirty="0" smtClean="0">
                <a:solidFill>
                  <a:schemeClr val="tx1"/>
                </a:solidFill>
                <a:latin typeface="Arial" panose="020B0604020202020204" pitchFamily="34" charset="0"/>
                <a:cs typeface="Arial" panose="020B0604020202020204" pitchFamily="34" charset="0"/>
              </a:rPr>
              <a:t>[1] Anurag </a:t>
            </a:r>
            <a:r>
              <a:rPr lang="en-IN" dirty="0">
                <a:solidFill>
                  <a:schemeClr val="tx1"/>
                </a:solidFill>
                <a:latin typeface="Arial" panose="020B0604020202020204" pitchFamily="34" charset="0"/>
                <a:cs typeface="Arial" panose="020B0604020202020204" pitchFamily="34" charset="0"/>
              </a:rPr>
              <a:t>Nagar, Michael Hahsler, Using Text and Data Mining Techniques to extract Stock </a:t>
            </a:r>
            <a:r>
              <a:rPr lang="en-IN" dirty="0" smtClean="0">
                <a:solidFill>
                  <a:schemeClr val="tx1"/>
                </a:solidFill>
                <a:latin typeface="Arial" panose="020B0604020202020204" pitchFamily="34" charset="0"/>
                <a:cs typeface="Arial" panose="020B0604020202020204" pitchFamily="34" charset="0"/>
              </a:rPr>
              <a:t>Market </a:t>
            </a:r>
            <a:r>
              <a:rPr lang="en-IN" dirty="0">
                <a:solidFill>
                  <a:schemeClr val="tx1"/>
                </a:solidFill>
                <a:latin typeface="Arial" panose="020B0604020202020204" pitchFamily="34" charset="0"/>
                <a:cs typeface="Arial" panose="020B0604020202020204" pitchFamily="34" charset="0"/>
              </a:rPr>
              <a:t>Sentiment from Live News </a:t>
            </a:r>
            <a:r>
              <a:rPr lang="en-IN" dirty="0" smtClean="0">
                <a:solidFill>
                  <a:schemeClr val="tx1"/>
                </a:solidFill>
                <a:latin typeface="Arial" panose="020B0604020202020204" pitchFamily="34" charset="0"/>
                <a:cs typeface="Arial" panose="020B0604020202020204" pitchFamily="34" charset="0"/>
              </a:rPr>
              <a:t>           Streams</a:t>
            </a:r>
            <a:r>
              <a:rPr lang="en-IN" dirty="0">
                <a:solidFill>
                  <a:schemeClr val="tx1"/>
                </a:solidFill>
                <a:latin typeface="Arial" panose="020B0604020202020204" pitchFamily="34" charset="0"/>
                <a:cs typeface="Arial" panose="020B0604020202020204" pitchFamily="34" charset="0"/>
              </a:rPr>
              <a:t>, </a:t>
            </a:r>
            <a:r>
              <a:rPr lang="en-IN" dirty="0" smtClean="0">
                <a:solidFill>
                  <a:schemeClr val="tx1"/>
                </a:solidFill>
                <a:latin typeface="Arial" panose="020B0604020202020204" pitchFamily="34" charset="0"/>
                <a:cs typeface="Arial" panose="020B0604020202020204" pitchFamily="34" charset="0"/>
              </a:rPr>
              <a:t>IACSIT </a:t>
            </a:r>
            <a:r>
              <a:rPr lang="en-IN" dirty="0">
                <a:solidFill>
                  <a:schemeClr val="tx1"/>
                </a:solidFill>
                <a:latin typeface="Arial" panose="020B0604020202020204" pitchFamily="34" charset="0"/>
                <a:cs typeface="Arial" panose="020B0604020202020204" pitchFamily="34" charset="0"/>
              </a:rPr>
              <a:t>Press, </a:t>
            </a:r>
            <a:r>
              <a:rPr lang="en-IN" dirty="0" smtClean="0">
                <a:solidFill>
                  <a:schemeClr val="tx1"/>
                </a:solidFill>
                <a:latin typeface="Arial" panose="020B0604020202020204" pitchFamily="34" charset="0"/>
                <a:cs typeface="Arial" panose="020B0604020202020204" pitchFamily="34" charset="0"/>
              </a:rPr>
              <a:t>Singapore, </a:t>
            </a:r>
            <a:r>
              <a:rPr lang="en-IN" dirty="0">
                <a:solidFill>
                  <a:schemeClr val="tx1"/>
                </a:solidFill>
                <a:latin typeface="Arial" panose="020B0604020202020204" pitchFamily="34" charset="0"/>
                <a:cs typeface="Arial" panose="020B0604020202020204" pitchFamily="34" charset="0"/>
              </a:rPr>
              <a:t>IPCSIT vol. 20  </a:t>
            </a:r>
            <a:r>
              <a:rPr lang="en-IN" dirty="0" smtClean="0">
                <a:solidFill>
                  <a:schemeClr val="tx1"/>
                </a:solidFill>
                <a:latin typeface="Arial" panose="020B0604020202020204" pitchFamily="34" charset="0"/>
                <a:cs typeface="Arial" panose="020B0604020202020204" pitchFamily="34" charset="0"/>
              </a:rPr>
              <a:t>2012. </a:t>
            </a:r>
            <a:endParaRPr lang="en-IN" dirty="0">
              <a:solidFill>
                <a:schemeClr val="tx1"/>
              </a:solidFill>
              <a:latin typeface="Arial" panose="020B0604020202020204" pitchFamily="34" charset="0"/>
              <a:cs typeface="Arial" panose="020B0604020202020204" pitchFamily="34" charset="0"/>
            </a:endParaRPr>
          </a:p>
          <a:p>
            <a:pPr lvl="0"/>
            <a:r>
              <a:rPr lang="en-IN" dirty="0" smtClean="0">
                <a:solidFill>
                  <a:schemeClr val="tx1"/>
                </a:solidFill>
                <a:latin typeface="Arial" panose="020B0604020202020204" pitchFamily="34" charset="0"/>
                <a:cs typeface="Arial" panose="020B0604020202020204" pitchFamily="34" charset="0"/>
              </a:rPr>
              <a:t>[2] W.B</a:t>
            </a:r>
            <a:r>
              <a:rPr lang="en-IN" dirty="0">
                <a:solidFill>
                  <a:schemeClr val="tx1"/>
                </a:solidFill>
                <a:latin typeface="Arial" panose="020B0604020202020204" pitchFamily="34" charset="0"/>
                <a:cs typeface="Arial" panose="020B0604020202020204" pitchFamily="34" charset="0"/>
              </a:rPr>
              <a:t>. Yu, B.R. Lea, and B. Guruswamy, A Theoretic Framework Integrating Text Mining and Energy Demand Forecasting, International Journal of Electronic Business Management. </a:t>
            </a:r>
            <a:r>
              <a:rPr lang="en-IN" dirty="0" smtClean="0">
                <a:solidFill>
                  <a:schemeClr val="tx1"/>
                </a:solidFill>
                <a:latin typeface="Arial" panose="020B0604020202020204" pitchFamily="34" charset="0"/>
                <a:cs typeface="Arial" panose="020B0604020202020204" pitchFamily="34" charset="0"/>
              </a:rPr>
              <a:t>5(3</a:t>
            </a:r>
            <a:r>
              <a:rPr lang="en-IN" dirty="0">
                <a:solidFill>
                  <a:schemeClr val="tx1"/>
                </a:solidFill>
                <a:latin typeface="Arial" panose="020B0604020202020204" pitchFamily="34" charset="0"/>
                <a:cs typeface="Arial" panose="020B0604020202020204" pitchFamily="34" charset="0"/>
              </a:rPr>
              <a:t>): </a:t>
            </a:r>
            <a:r>
              <a:rPr lang="en-IN" dirty="0" smtClean="0">
                <a:solidFill>
                  <a:schemeClr val="tx1"/>
                </a:solidFill>
                <a:latin typeface="Arial" panose="020B0604020202020204" pitchFamily="34" charset="0"/>
                <a:cs typeface="Arial" panose="020B0604020202020204" pitchFamily="34" charset="0"/>
              </a:rPr>
              <a:t>211-224, 2011.</a:t>
            </a:r>
            <a:endParaRPr lang="en-IN" dirty="0">
              <a:solidFill>
                <a:schemeClr val="tx1"/>
              </a:solidFill>
              <a:latin typeface="Arial" panose="020B0604020202020204" pitchFamily="34" charset="0"/>
              <a:cs typeface="Arial" panose="020B0604020202020204" pitchFamily="34" charset="0"/>
            </a:endParaRPr>
          </a:p>
          <a:p>
            <a:pPr lvl="0"/>
            <a:r>
              <a:rPr lang="en-IN" dirty="0" smtClean="0">
                <a:solidFill>
                  <a:schemeClr val="tx1"/>
                </a:solidFill>
                <a:latin typeface="Arial" panose="020B0604020202020204" pitchFamily="34" charset="0"/>
                <a:cs typeface="Arial" panose="020B0604020202020204" pitchFamily="34" charset="0"/>
              </a:rPr>
              <a:t>[3] J</a:t>
            </a:r>
            <a:r>
              <a:rPr lang="en-IN" dirty="0">
                <a:solidFill>
                  <a:schemeClr val="tx1"/>
                </a:solidFill>
                <a:latin typeface="Arial" panose="020B0604020202020204" pitchFamily="34" charset="0"/>
                <a:cs typeface="Arial" panose="020B0604020202020204" pitchFamily="34" charset="0"/>
              </a:rPr>
              <a:t>. Bean, R by example: Mining Twitter for consumer attitudes towards airlines, In Boston Predictive Analytics Meetup Presentation, 2011 </a:t>
            </a:r>
          </a:p>
          <a:p>
            <a:r>
              <a:rPr lang="en-IN" dirty="0" smtClean="0">
                <a:solidFill>
                  <a:schemeClr val="tx1"/>
                </a:solidFill>
                <a:latin typeface="Arial" panose="020B0604020202020204" pitchFamily="34" charset="0"/>
                <a:cs typeface="Arial" panose="020B0604020202020204" pitchFamily="34" charset="0"/>
              </a:rPr>
              <a:t>[4] Yauheniya </a:t>
            </a:r>
            <a:r>
              <a:rPr lang="en-IN" dirty="0">
                <a:solidFill>
                  <a:schemeClr val="tx1"/>
                </a:solidFill>
                <a:latin typeface="Arial" panose="020B0604020202020204" pitchFamily="34" charset="0"/>
                <a:cs typeface="Arial" panose="020B0604020202020204" pitchFamily="34" charset="0"/>
              </a:rPr>
              <a:t>Shynkevich, T.M. McGinnity, Sonya Coleman, Ammar Belatreche, Predicting Stock Price Movements Based on Different Categories of News Articles, 2015 IEEE Symposium Series on Computational </a:t>
            </a:r>
            <a:r>
              <a:rPr lang="en-IN" dirty="0" smtClean="0">
                <a:solidFill>
                  <a:schemeClr val="tx1"/>
                </a:solidFill>
                <a:latin typeface="Arial" panose="020B0604020202020204" pitchFamily="34" charset="0"/>
                <a:cs typeface="Arial" panose="020B0604020202020204" pitchFamily="34" charset="0"/>
              </a:rPr>
              <a:t>Intelligence, 2015</a:t>
            </a:r>
            <a:endParaRPr lang="en-US" sz="2000" dirty="0">
              <a:solidFill>
                <a:schemeClr val="tx1"/>
              </a:solidFill>
              <a:latin typeface="Arial" panose="020B0604020202020204" pitchFamily="34" charset="0"/>
              <a:cs typeface="Arial" panose="020B0604020202020204" pitchFamily="34" charset="0"/>
            </a:endParaRPr>
          </a:p>
          <a:p>
            <a:pPr lvl="0"/>
            <a:r>
              <a:rPr lang="en-US" sz="2000" dirty="0" smtClean="0">
                <a:solidFill>
                  <a:schemeClr val="tx1"/>
                </a:solidFill>
                <a:latin typeface="Arial" panose="020B0604020202020204" pitchFamily="34" charset="0"/>
                <a:cs typeface="Arial" panose="020B0604020202020204" pitchFamily="34" charset="0"/>
              </a:rPr>
              <a:t>[5] </a:t>
            </a:r>
            <a:r>
              <a:rPr lang="en-US" dirty="0">
                <a:solidFill>
                  <a:schemeClr val="tx1"/>
                </a:solidFill>
                <a:latin typeface="Arial" panose="020B0604020202020204" pitchFamily="34" charset="0"/>
                <a:cs typeface="Arial" panose="020B0604020202020204" pitchFamily="34" charset="0"/>
              </a:rPr>
              <a:t>J. Griffith, M. Najand and J. Shen, "Emotions in the Stock Market", </a:t>
            </a:r>
            <a:r>
              <a:rPr lang="en-US" i="1" dirty="0">
                <a:solidFill>
                  <a:schemeClr val="tx1"/>
                </a:solidFill>
                <a:latin typeface="Arial" panose="020B0604020202020204" pitchFamily="34" charset="0"/>
                <a:cs typeface="Arial" panose="020B0604020202020204" pitchFamily="34" charset="0"/>
              </a:rPr>
              <a:t>J. Behav. Financ.</a:t>
            </a:r>
            <a:r>
              <a:rPr lang="en-US" dirty="0">
                <a:solidFill>
                  <a:schemeClr val="tx1"/>
                </a:solidFill>
                <a:latin typeface="Arial" panose="020B0604020202020204" pitchFamily="34" charset="0"/>
                <a:cs typeface="Arial" panose="020B0604020202020204" pitchFamily="34" charset="0"/>
              </a:rPr>
              <a:t>, vol. 21, no. 1, pp. 42-56, Jan. 2020.</a:t>
            </a:r>
            <a:endParaRPr lang="en-IN" dirty="0">
              <a:solidFill>
                <a:schemeClr val="tx1"/>
              </a:solidFill>
              <a:latin typeface="Arial" panose="020B0604020202020204" pitchFamily="34" charset="0"/>
              <a:cs typeface="Arial" panose="020B0604020202020204" pitchFamily="34" charset="0"/>
            </a:endParaRPr>
          </a:p>
          <a:p>
            <a:pPr lvl="0"/>
            <a:r>
              <a:rPr lang="en-US" dirty="0" smtClean="0">
                <a:solidFill>
                  <a:schemeClr val="tx1"/>
                </a:solidFill>
                <a:latin typeface="Arial" panose="020B0604020202020204" pitchFamily="34" charset="0"/>
                <a:cs typeface="Arial" panose="020B0604020202020204" pitchFamily="34" charset="0"/>
              </a:rPr>
              <a:t>[6] O</a:t>
            </a:r>
            <a:r>
              <a:rPr lang="en-US" dirty="0">
                <a:solidFill>
                  <a:schemeClr val="tx1"/>
                </a:solidFill>
                <a:latin typeface="Arial" panose="020B0604020202020204" pitchFamily="34" charset="0"/>
                <a:cs typeface="Arial" panose="020B0604020202020204" pitchFamily="34" charset="0"/>
              </a:rPr>
              <a:t>. C. Sert, S. D. Şahin, T. Özyer and R. Alhajj, "Analysis and prediction in sparse and high dimensional text data: The case of Dow Jones stock market", </a:t>
            </a:r>
            <a:r>
              <a:rPr lang="en-US" i="1" dirty="0">
                <a:solidFill>
                  <a:schemeClr val="tx1"/>
                </a:solidFill>
                <a:latin typeface="Arial" panose="020B0604020202020204" pitchFamily="34" charset="0"/>
                <a:cs typeface="Arial" panose="020B0604020202020204" pitchFamily="34" charset="0"/>
              </a:rPr>
              <a:t>Phys. A Stat. Mech. its Appl.</a:t>
            </a:r>
            <a:r>
              <a:rPr lang="en-US" dirty="0">
                <a:solidFill>
                  <a:schemeClr val="tx1"/>
                </a:solidFill>
                <a:latin typeface="Arial" panose="020B0604020202020204" pitchFamily="34" charset="0"/>
                <a:cs typeface="Arial" panose="020B0604020202020204" pitchFamily="34" charset="0"/>
              </a:rPr>
              <a:t>, vol. 545, pp. 123752, 2020.</a:t>
            </a:r>
            <a:endParaRPr lang="en-IN" dirty="0">
              <a:solidFill>
                <a:schemeClr val="tx1"/>
              </a:solidFill>
              <a:latin typeface="Arial" panose="020B0604020202020204" pitchFamily="34" charset="0"/>
              <a:cs typeface="Arial" panose="020B0604020202020204" pitchFamily="34" charset="0"/>
            </a:endParaRPr>
          </a:p>
          <a:p>
            <a:pPr lvl="0"/>
            <a:r>
              <a:rPr lang="en-US" dirty="0" smtClean="0">
                <a:solidFill>
                  <a:schemeClr val="tx1"/>
                </a:solidFill>
                <a:latin typeface="Arial" panose="020B0604020202020204" pitchFamily="34" charset="0"/>
                <a:cs typeface="Arial" panose="020B0604020202020204" pitchFamily="34" charset="0"/>
              </a:rPr>
              <a:t>[7] Sandipan</a:t>
            </a:r>
            <a:r>
              <a:rPr lang="en-US" dirty="0">
                <a:solidFill>
                  <a:schemeClr val="tx1"/>
                </a:solidFill>
                <a:latin typeface="Arial" panose="020B0604020202020204" pitchFamily="34" charset="0"/>
                <a:cs typeface="Arial" panose="020B0604020202020204" pitchFamily="34" charset="0"/>
              </a:rPr>
              <a:t> Biswas, Shivnath Ghosh, “A Comparative Study into Stock Market Prediction Through Various Sentiment Analysis Algorithms”, pp 117-128 29 September 2021.</a:t>
            </a:r>
            <a:endParaRPr lang="en-IN" dirty="0">
              <a:solidFill>
                <a:schemeClr val="tx1"/>
              </a:solidFill>
              <a:latin typeface="Arial" panose="020B0604020202020204" pitchFamily="34" charset="0"/>
              <a:cs typeface="Arial" panose="020B0604020202020204" pitchFamily="34" charset="0"/>
            </a:endParaRPr>
          </a:p>
          <a:p>
            <a:endParaRPr lang="en-IN"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942356"/>
      </p:ext>
    </p:extLst>
  </p:cSld>
  <p:clrMapOvr>
    <a:masterClrMapping/>
  </p:clrMapOvr>
  <p:transition spd="slow">
    <p:cove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55F6BD6-98FC-40AC-91C6-6535295EAB1B}"/>
              </a:ext>
            </a:extLst>
          </p:cNvPr>
          <p:cNvSpPr>
            <a:spLocks noGrp="1"/>
          </p:cNvSpPr>
          <p:nvPr>
            <p:ph type="ctrTitle"/>
          </p:nvPr>
        </p:nvSpPr>
        <p:spPr>
          <a:xfrm>
            <a:off x="1097280" y="758952"/>
            <a:ext cx="10058400" cy="3566160"/>
          </a:xfrm>
        </p:spPr>
        <p:txBody>
          <a:bodyPr/>
          <a:lstStyle/>
          <a:p>
            <a:pPr algn="ctr"/>
            <a:r>
              <a:rPr lang="en-US" dirty="0"/>
              <a:t>Thank You</a:t>
            </a:r>
          </a:p>
        </p:txBody>
      </p:sp>
    </p:spTree>
    <p:extLst>
      <p:ext uri="{BB962C8B-B14F-4D97-AF65-F5344CB8AC3E}">
        <p14:creationId xmlns:p14="http://schemas.microsoft.com/office/powerpoint/2010/main" val="2708233596"/>
      </p:ext>
    </p:extLst>
  </p:cSld>
  <p:clrMapOvr>
    <a:masterClrMapping/>
  </p:clrMapOvr>
  <p:transition spd="slow">
    <p:cover/>
  </p:transition>
  <p:timing>
    <p:tnLst>
      <p:par>
        <p:cTn id="1" dur="indefinite" restart="never" nodeType="tmRoot"/>
      </p:par>
    </p:tnLst>
  </p:timing>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{CF3F7191-069B-48F3-BEEC-E94216E80E08}tf56160789_win32</Template>
  <TotalTime>1496</TotalTime>
  <Words>2057</Words>
  <Application>Microsoft Office PowerPoint</Application>
  <PresentationFormat>Widescreen</PresentationFormat>
  <Paragraphs>266</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Bookman Old Style</vt:lpstr>
      <vt:lpstr>Calibri</vt:lpstr>
      <vt:lpstr>Cambria Math</vt:lpstr>
      <vt:lpstr>Franklin Gothic Book</vt:lpstr>
      <vt:lpstr>inter-bold</vt:lpstr>
      <vt:lpstr>inter-regular</vt:lpstr>
      <vt:lpstr>Wingdings</vt:lpstr>
      <vt:lpstr>1_RetrospectVTI</vt:lpstr>
      <vt:lpstr>PowerPoint Presentation</vt:lpstr>
      <vt:lpstr>        </vt:lpstr>
      <vt:lpstr>Problem Statement</vt:lpstr>
      <vt:lpstr>Objective </vt:lpstr>
      <vt:lpstr>Literature Review</vt:lpstr>
      <vt:lpstr>Continued…</vt:lpstr>
      <vt:lpstr>Proposed Model</vt:lpstr>
      <vt:lpstr>Work Done</vt:lpstr>
      <vt:lpstr>Continued…</vt:lpstr>
      <vt:lpstr>Dataset </vt:lpstr>
      <vt:lpstr>Exploratory Data Analysis</vt:lpstr>
      <vt:lpstr>Data Preprocessing</vt:lpstr>
      <vt:lpstr>Bag of words</vt:lpstr>
      <vt:lpstr>Decision Tree Classifier</vt:lpstr>
      <vt:lpstr>Continued…</vt:lpstr>
      <vt:lpstr>Random Forest Classifier</vt:lpstr>
      <vt:lpstr>Continued…</vt:lpstr>
      <vt:lpstr>Passive Aggressive Classifier</vt:lpstr>
      <vt:lpstr>How Passive-Aggressive Works:</vt:lpstr>
      <vt:lpstr>Support Vector Machine</vt:lpstr>
      <vt:lpstr>Continued…</vt:lpstr>
      <vt:lpstr>Multinomial Naïve Bayes Classifier</vt:lpstr>
      <vt:lpstr>Continued…</vt:lpstr>
      <vt:lpstr>Comparison of different models: </vt:lpstr>
      <vt:lpstr>Insights from comparison</vt:lpstr>
      <vt:lpstr>Continued…</vt:lpstr>
      <vt:lpstr>PowerPoint Presentation</vt:lpstr>
      <vt:lpstr>Grouping of words :   Scenario -1      Scenario - 2</vt:lpstr>
      <vt:lpstr>How a word is positive/negative sentiment</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stock value changes based on the sentiment analysis of news headlines</dc:title>
  <dc:creator>Devesh Kumar Sharma</dc:creator>
  <cp:lastModifiedBy>Devesh Kumar Sharma</cp:lastModifiedBy>
  <cp:revision>64</cp:revision>
  <dcterms:created xsi:type="dcterms:W3CDTF">2021-11-11T07:25:51Z</dcterms:created>
  <dcterms:modified xsi:type="dcterms:W3CDTF">2022-05-24T17:07:09Z</dcterms:modified>
</cp:coreProperties>
</file>